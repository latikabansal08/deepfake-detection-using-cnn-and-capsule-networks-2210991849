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21"/>
  </p:notesMasterIdLst>
  <p:handoutMasterIdLst>
    <p:handoutMasterId r:id="rId22"/>
  </p:handoutMasterIdLst>
  <p:sldIdLst>
    <p:sldId id="256" r:id="rId5"/>
    <p:sldId id="257" r:id="rId6"/>
    <p:sldId id="269" r:id="rId7"/>
    <p:sldId id="270" r:id="rId8"/>
    <p:sldId id="271" r:id="rId9"/>
    <p:sldId id="272" r:id="rId10"/>
    <p:sldId id="273" r:id="rId11"/>
    <p:sldId id="274" r:id="rId12"/>
    <p:sldId id="283" r:id="rId13"/>
    <p:sldId id="278" r:id="rId14"/>
    <p:sldId id="280" r:id="rId15"/>
    <p:sldId id="281" r:id="rId16"/>
    <p:sldId id="282" r:id="rId17"/>
    <p:sldId id="279" r:id="rId18"/>
    <p:sldId id="275" r:id="rId19"/>
    <p:sldId id="268" r:id="rId20"/>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842" autoAdjust="0"/>
    <p:restoredTop sz="94660"/>
  </p:normalViewPr>
  <p:slideViewPr>
    <p:cSldViewPr snapToGrid="0">
      <p:cViewPr varScale="1">
        <p:scale>
          <a:sx n="68" d="100"/>
          <a:sy n="68" d="100"/>
        </p:scale>
        <p:origin x="1420" y="6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100" b="0" i="0" u="none" strike="noStrike">
                <a:solidFill>
                  <a:srgbClr val="1A1A1A"/>
                </a:solidFill>
                <a:latin typeface="Arial"/>
              </a:defRPr>
            </a:pPr>
            <a:r>
              <a:rPr lang="en-IN" sz="1100" b="0" i="0" u="none" strike="noStrike">
                <a:solidFill>
                  <a:srgbClr val="1A1A1A"/>
                </a:solidFill>
                <a:latin typeface="Arial"/>
              </a:rPr>
              <a:t>Model Accuracy Comparison (%)</a:t>
            </a:r>
          </a:p>
        </c:rich>
      </c:tx>
      <c:overlay val="0"/>
    </c:title>
    <c:autoTitleDeleted val="0"/>
    <c:plotArea>
      <c:layout/>
      <c:barChart>
        <c:barDir val="col"/>
        <c:grouping val="clustered"/>
        <c:varyColors val="0"/>
        <c:ser>
          <c:idx val="0"/>
          <c:order val="0"/>
          <c:tx>
            <c:strRef>
              <c:f>Sheet1!$B$1</c:f>
              <c:strCache>
                <c:ptCount val="1"/>
                <c:pt idx="0">
                  <c:v>Accuracy (%)</c:v>
                </c:pt>
              </c:strCache>
            </c:strRef>
          </c:tx>
          <c:spPr>
            <a:solidFill>
              <a:srgbClr val="4472C4"/>
            </a:solidFill>
            <a:effectLst/>
          </c:spPr>
          <c:invertIfNegative val="0"/>
          <c:dPt>
            <c:idx val="0"/>
            <c:invertIfNegative val="0"/>
            <c:bubble3D val="0"/>
            <c:extLst>
              <c:ext xmlns:c16="http://schemas.microsoft.com/office/drawing/2014/chart" uri="{C3380CC4-5D6E-409C-BE32-E72D297353CC}">
                <c16:uniqueId val="{00000000-EB04-4D80-8F4B-A03D04C13CEC}"/>
              </c:ext>
            </c:extLst>
          </c:dPt>
          <c:dPt>
            <c:idx val="1"/>
            <c:invertIfNegative val="0"/>
            <c:bubble3D val="0"/>
            <c:spPr>
              <a:solidFill>
                <a:srgbClr val="ED7D31"/>
              </a:solidFill>
              <a:effectLst/>
            </c:spPr>
            <c:extLst>
              <c:ext xmlns:c16="http://schemas.microsoft.com/office/drawing/2014/chart" uri="{C3380CC4-5D6E-409C-BE32-E72D297353CC}">
                <c16:uniqueId val="{00000002-EB04-4D80-8F4B-A03D04C13CEC}"/>
              </c:ext>
            </c:extLst>
          </c:dPt>
          <c:dPt>
            <c:idx val="2"/>
            <c:invertIfNegative val="0"/>
            <c:bubble3D val="0"/>
            <c:spPr>
              <a:solidFill>
                <a:srgbClr val="CC0000"/>
              </a:solidFill>
              <a:effectLst/>
            </c:spPr>
            <c:extLst>
              <c:ext xmlns:c16="http://schemas.microsoft.com/office/drawing/2014/chart" uri="{C3380CC4-5D6E-409C-BE32-E72D297353CC}">
                <c16:uniqueId val="{00000004-EB04-4D80-8F4B-A03D04C13CEC}"/>
              </c:ext>
            </c:extLst>
          </c:dPt>
          <c:dLbls>
            <c:numFmt formatCode="#,##0" sourceLinked="0"/>
            <c:spPr>
              <a:noFill/>
              <a:ln>
                <a:noFill/>
              </a:ln>
              <a:effectLst/>
            </c:spPr>
            <c:txPr>
              <a:bodyPr/>
              <a:lstStyle/>
              <a:p>
                <a:pPr>
                  <a:defRPr sz="1200" b="0" i="0" u="none" strike="noStrike">
                    <a:solidFill>
                      <a:srgbClr val="1A1A1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CNN</c:v>
                </c:pt>
                <c:pt idx="1">
                  <c:v>CapsNet</c:v>
                </c:pt>
                <c:pt idx="2">
                  <c:v>Hybrid</c:v>
                </c:pt>
              </c:strCache>
            </c:strRef>
          </c:cat>
          <c:val>
            <c:numRef>
              <c:f>Sheet1!$B$2:$B$4</c:f>
              <c:numCache>
                <c:formatCode>General</c:formatCode>
                <c:ptCount val="3"/>
                <c:pt idx="0">
                  <c:v>89.2</c:v>
                </c:pt>
                <c:pt idx="1">
                  <c:v>91</c:v>
                </c:pt>
                <c:pt idx="2">
                  <c:v>94.3</c:v>
                </c:pt>
              </c:numCache>
            </c:numRef>
          </c:val>
          <c:extLst>
            <c:ext xmlns:c16="http://schemas.microsoft.com/office/drawing/2014/chart" uri="{C3380CC4-5D6E-409C-BE32-E72D297353CC}">
              <c16:uniqueId val="{00000005-EB04-4D80-8F4B-A03D04C13CE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44444"/>
                </a:solidFill>
                <a:latin typeface="Arial"/>
              </a:defRPr>
            </a:pPr>
            <a:endParaRPr lang="en-US"/>
          </a:p>
        </c:txPr>
        <c:crossAx val="2094734552"/>
        <c:crosses val="autoZero"/>
        <c:auto val="1"/>
        <c:lblAlgn val="ctr"/>
        <c:lblOffset val="100"/>
        <c:noMultiLvlLbl val="1"/>
      </c:catAx>
      <c:valAx>
        <c:axId val="2094734552"/>
        <c:scaling>
          <c:orientation val="minMax"/>
          <c:max val="97"/>
          <c:min val="85"/>
        </c:scaling>
        <c:delete val="0"/>
        <c:axPos val="l"/>
        <c:majorGridlines>
          <c:spPr>
            <a:ln w="6350" cap="flat">
              <a:solidFill>
                <a:srgbClr val="DDDD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44444"/>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5F5F5"/>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100" b="0" i="0" u="none" strike="noStrike">
                <a:solidFill>
                  <a:srgbClr val="1A1A1A"/>
                </a:solidFill>
                <a:latin typeface="Arial"/>
              </a:defRPr>
            </a:pPr>
            <a:r>
              <a:rPr lang="en-IN" sz="1100" b="0" i="0" u="none" strike="noStrike">
                <a:solidFill>
                  <a:srgbClr val="1A1A1A"/>
                </a:solidFill>
                <a:latin typeface="Arial"/>
              </a:rPr>
              <a:t>Model F1-Score Comparison</a:t>
            </a:r>
          </a:p>
        </c:rich>
      </c:tx>
      <c:overlay val="0"/>
    </c:title>
    <c:autoTitleDeleted val="0"/>
    <c:plotArea>
      <c:layout/>
      <c:barChart>
        <c:barDir val="col"/>
        <c:grouping val="clustered"/>
        <c:varyColors val="0"/>
        <c:ser>
          <c:idx val="0"/>
          <c:order val="0"/>
          <c:tx>
            <c:strRef>
              <c:f>Sheet1!$B$1</c:f>
              <c:strCache>
                <c:ptCount val="1"/>
                <c:pt idx="0">
                  <c:v>F1 Score</c:v>
                </c:pt>
              </c:strCache>
            </c:strRef>
          </c:tx>
          <c:spPr>
            <a:solidFill>
              <a:srgbClr val="4472C4"/>
            </a:solidFill>
            <a:effectLst/>
          </c:spPr>
          <c:invertIfNegative val="0"/>
          <c:dPt>
            <c:idx val="0"/>
            <c:invertIfNegative val="0"/>
            <c:bubble3D val="0"/>
            <c:extLst>
              <c:ext xmlns:c16="http://schemas.microsoft.com/office/drawing/2014/chart" uri="{C3380CC4-5D6E-409C-BE32-E72D297353CC}">
                <c16:uniqueId val="{00000000-68B0-447C-9437-5F0677519F6D}"/>
              </c:ext>
            </c:extLst>
          </c:dPt>
          <c:dPt>
            <c:idx val="1"/>
            <c:invertIfNegative val="0"/>
            <c:bubble3D val="0"/>
            <c:spPr>
              <a:solidFill>
                <a:srgbClr val="ED7D31"/>
              </a:solidFill>
              <a:effectLst/>
            </c:spPr>
            <c:extLst>
              <c:ext xmlns:c16="http://schemas.microsoft.com/office/drawing/2014/chart" uri="{C3380CC4-5D6E-409C-BE32-E72D297353CC}">
                <c16:uniqueId val="{00000002-68B0-447C-9437-5F0677519F6D}"/>
              </c:ext>
            </c:extLst>
          </c:dPt>
          <c:dPt>
            <c:idx val="2"/>
            <c:invertIfNegative val="0"/>
            <c:bubble3D val="0"/>
            <c:spPr>
              <a:solidFill>
                <a:srgbClr val="CC0000"/>
              </a:solidFill>
              <a:effectLst/>
            </c:spPr>
            <c:extLst>
              <c:ext xmlns:c16="http://schemas.microsoft.com/office/drawing/2014/chart" uri="{C3380CC4-5D6E-409C-BE32-E72D297353CC}">
                <c16:uniqueId val="{00000004-68B0-447C-9437-5F0677519F6D}"/>
              </c:ext>
            </c:extLst>
          </c:dPt>
          <c:dLbls>
            <c:numFmt formatCode="#,##0" sourceLinked="0"/>
            <c:spPr>
              <a:noFill/>
              <a:ln>
                <a:noFill/>
              </a:ln>
              <a:effectLst/>
            </c:spPr>
            <c:txPr>
              <a:bodyPr/>
              <a:lstStyle/>
              <a:p>
                <a:pPr>
                  <a:defRPr sz="1200" b="0" i="0" u="none" strike="noStrike">
                    <a:solidFill>
                      <a:srgbClr val="1A1A1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CNN</c:v>
                </c:pt>
                <c:pt idx="1">
                  <c:v>CapsNet</c:v>
                </c:pt>
                <c:pt idx="2">
                  <c:v>Hybrid</c:v>
                </c:pt>
              </c:strCache>
            </c:strRef>
          </c:cat>
          <c:val>
            <c:numRef>
              <c:f>Sheet1!$B$2:$B$4</c:f>
              <c:numCache>
                <c:formatCode>General</c:formatCode>
                <c:ptCount val="3"/>
                <c:pt idx="0">
                  <c:v>0.88</c:v>
                </c:pt>
                <c:pt idx="1">
                  <c:v>0.89</c:v>
                </c:pt>
                <c:pt idx="2">
                  <c:v>0.93</c:v>
                </c:pt>
              </c:numCache>
            </c:numRef>
          </c:val>
          <c:extLst>
            <c:ext xmlns:c16="http://schemas.microsoft.com/office/drawing/2014/chart" uri="{C3380CC4-5D6E-409C-BE32-E72D297353CC}">
              <c16:uniqueId val="{00000005-68B0-447C-9437-5F0677519F6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44444"/>
                </a:solidFill>
                <a:latin typeface="Arial"/>
              </a:defRPr>
            </a:pPr>
            <a:endParaRPr lang="en-US"/>
          </a:p>
        </c:txPr>
        <c:crossAx val="2094734552"/>
        <c:crosses val="autoZero"/>
        <c:auto val="1"/>
        <c:lblAlgn val="ctr"/>
        <c:lblOffset val="100"/>
        <c:noMultiLvlLbl val="1"/>
      </c:catAx>
      <c:valAx>
        <c:axId val="2094734552"/>
        <c:scaling>
          <c:orientation val="minMax"/>
          <c:max val="0.96"/>
          <c:min val="0.85"/>
        </c:scaling>
        <c:delete val="0"/>
        <c:axPos val="l"/>
        <c:majorGridlines>
          <c:spPr>
            <a:ln w="6350" cap="flat">
              <a:solidFill>
                <a:srgbClr val="DDDD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44444"/>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5F5F5"/>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Importance Score</c:v>
                </c:pt>
              </c:strCache>
            </c:strRef>
          </c:tx>
          <c:spPr>
            <a:solidFill>
              <a:srgbClr val="CC0000"/>
            </a:solidFill>
            <a:effectLst/>
          </c:spPr>
          <c:invertIfNegative val="0"/>
          <c:dPt>
            <c:idx val="0"/>
            <c:invertIfNegative val="0"/>
            <c:bubble3D val="0"/>
            <c:extLst>
              <c:ext xmlns:c16="http://schemas.microsoft.com/office/drawing/2014/chart" uri="{C3380CC4-5D6E-409C-BE32-E72D297353CC}">
                <c16:uniqueId val="{00000000-E93D-4B0E-8891-0B8846AB99FB}"/>
              </c:ext>
            </c:extLst>
          </c:dPt>
          <c:dPt>
            <c:idx val="1"/>
            <c:invertIfNegative val="0"/>
            <c:bubble3D val="0"/>
            <c:spPr>
              <a:solidFill>
                <a:srgbClr val="CC3300"/>
              </a:solidFill>
              <a:effectLst/>
            </c:spPr>
            <c:extLst>
              <c:ext xmlns:c16="http://schemas.microsoft.com/office/drawing/2014/chart" uri="{C3380CC4-5D6E-409C-BE32-E72D297353CC}">
                <c16:uniqueId val="{00000002-E93D-4B0E-8891-0B8846AB99FB}"/>
              </c:ext>
            </c:extLst>
          </c:dPt>
          <c:dPt>
            <c:idx val="2"/>
            <c:invertIfNegative val="0"/>
            <c:bubble3D val="0"/>
            <c:spPr>
              <a:solidFill>
                <a:srgbClr val="DD4411"/>
              </a:solidFill>
              <a:effectLst/>
            </c:spPr>
            <c:extLst>
              <c:ext xmlns:c16="http://schemas.microsoft.com/office/drawing/2014/chart" uri="{C3380CC4-5D6E-409C-BE32-E72D297353CC}">
                <c16:uniqueId val="{00000004-E93D-4B0E-8891-0B8846AB99FB}"/>
              </c:ext>
            </c:extLst>
          </c:dPt>
          <c:dPt>
            <c:idx val="3"/>
            <c:invertIfNegative val="0"/>
            <c:bubble3D val="0"/>
            <c:spPr>
              <a:solidFill>
                <a:srgbClr val="EE5522"/>
              </a:solidFill>
              <a:effectLst/>
            </c:spPr>
            <c:extLst>
              <c:ext xmlns:c16="http://schemas.microsoft.com/office/drawing/2014/chart" uri="{C3380CC4-5D6E-409C-BE32-E72D297353CC}">
                <c16:uniqueId val="{00000006-E93D-4B0E-8891-0B8846AB99FB}"/>
              </c:ext>
            </c:extLst>
          </c:dPt>
          <c:dPt>
            <c:idx val="4"/>
            <c:invertIfNegative val="0"/>
            <c:bubble3D val="0"/>
            <c:spPr>
              <a:solidFill>
                <a:srgbClr val="FF6633"/>
              </a:solidFill>
              <a:effectLst/>
            </c:spPr>
            <c:extLst>
              <c:ext xmlns:c16="http://schemas.microsoft.com/office/drawing/2014/chart" uri="{C3380CC4-5D6E-409C-BE32-E72D297353CC}">
                <c16:uniqueId val="{00000008-E93D-4B0E-8891-0B8846AB99FB}"/>
              </c:ext>
            </c:extLst>
          </c:dPt>
          <c:dLbls>
            <c:numFmt formatCode="#,##0" sourceLinked="0"/>
            <c:spPr>
              <a:noFill/>
              <a:ln>
                <a:noFill/>
              </a:ln>
              <a:effectLst/>
            </c:spPr>
            <c:txPr>
              <a:bodyPr/>
              <a:lstStyle/>
              <a:p>
                <a:pPr>
                  <a:defRPr sz="1200" b="0" i="0" u="none" strike="noStrike">
                    <a:solidFill>
                      <a:srgbClr val="1A1A1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Texture</c:v>
                </c:pt>
                <c:pt idx="1">
                  <c:v>Edges</c:v>
                </c:pt>
                <c:pt idx="2">
                  <c:v>Facial
Geometry</c:v>
                </c:pt>
                <c:pt idx="3">
                  <c:v>Artifacts</c:v>
                </c:pt>
                <c:pt idx="4">
                  <c:v>Frequency</c:v>
                </c:pt>
              </c:strCache>
            </c:strRef>
          </c:cat>
          <c:val>
            <c:numRef>
              <c:f>Sheet1!$B$2:$B$6</c:f>
              <c:numCache>
                <c:formatCode>General</c:formatCode>
                <c:ptCount val="5"/>
                <c:pt idx="0">
                  <c:v>0.22</c:v>
                </c:pt>
                <c:pt idx="1">
                  <c:v>0.18</c:v>
                </c:pt>
                <c:pt idx="2">
                  <c:v>0.2</c:v>
                </c:pt>
                <c:pt idx="3">
                  <c:v>0.15</c:v>
                </c:pt>
                <c:pt idx="4">
                  <c:v>0.12</c:v>
                </c:pt>
              </c:numCache>
            </c:numRef>
          </c:val>
          <c:extLst>
            <c:ext xmlns:c16="http://schemas.microsoft.com/office/drawing/2014/chart" uri="{C3380CC4-5D6E-409C-BE32-E72D297353CC}">
              <c16:uniqueId val="{00000009-E93D-4B0E-8891-0B8846AB99F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44444"/>
                </a:solidFill>
                <a:latin typeface="Arial"/>
              </a:defRPr>
            </a:pPr>
            <a:endParaRPr lang="en-US"/>
          </a:p>
        </c:txPr>
        <c:crossAx val="2094734552"/>
        <c:crosses val="autoZero"/>
        <c:auto val="1"/>
        <c:lblAlgn val="ctr"/>
        <c:lblOffset val="100"/>
        <c:noMultiLvlLbl val="1"/>
      </c:catAx>
      <c:valAx>
        <c:axId val="2094734552"/>
        <c:scaling>
          <c:orientation val="minMax"/>
          <c:max val="0.3"/>
          <c:min val="0"/>
        </c:scaling>
        <c:delete val="0"/>
        <c:axPos val="l"/>
        <c:majorGridlines>
          <c:spPr>
            <a:ln w="6350" cap="flat">
              <a:solidFill>
                <a:srgbClr val="DDDD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44444"/>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5F5F5"/>
    </a:solidFill>
    <a:ln>
      <a:noFill/>
    </a:ln>
    <a:effectLst/>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5/9/2026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5/9/2026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b="1" dirty="0">
                <a:latin typeface="Times New Roman" panose="02020603050405020304" pitchFamily="18" charset="0"/>
                <a:ea typeface="Calibri" panose="020F0502020204030204" pitchFamily="34" charset="0"/>
                <a:cs typeface="Times New Roman" panose="02020603050405020304" pitchFamily="18" charset="0"/>
              </a:rPr>
              <a:t>CO-OP Project at Industry (Module-2) </a:t>
            </a:r>
            <a:r>
              <a:rPr lang="en-IN" b="1" dirty="0">
                <a:latin typeface="Times New Roman" panose="02020603050405020304" pitchFamily="18" charset="0"/>
                <a:ea typeface="Calibri" panose="020F0502020204030204" pitchFamily="34" charset="0"/>
                <a:cs typeface="Times New Roman" panose="02020603050405020304" pitchFamily="18" charset="0"/>
              </a:rPr>
              <a:t>(22CS421)</a:t>
            </a:r>
          </a:p>
          <a:p>
            <a:pPr algn="ctr">
              <a:lnSpc>
                <a:spcPct val="100000"/>
              </a:lnSpc>
              <a:spcBef>
                <a:spcPts val="400"/>
              </a:spcBef>
            </a:pPr>
            <a:endParaRPr lang="en-IN" b="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sz="4000" b="1" dirty="0">
                <a:latin typeface="Times New Roman" panose="02020603050405020304" pitchFamily="18" charset="0"/>
                <a:ea typeface="Calibri" panose="020F0502020204030204" pitchFamily="34" charset="0"/>
                <a:cs typeface="Times New Roman" panose="02020603050405020304" pitchFamily="18" charset="0"/>
              </a:rPr>
              <a:t>Deepfake Detection Using CNN and Capsule Networks</a:t>
            </a:r>
            <a:endParaRPr lang="en-US" sz="4000" b="1" i="1"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Latika Bansal</a:t>
            </a: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2210991849</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Ms. Shikha Tuteja</a:t>
            </a: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200" spc="-1" dirty="0">
                <a:latin typeface="Times New Roman" panose="02020603050405020304" pitchFamily="18" charset="0"/>
                <a:ea typeface="MS PGothic"/>
                <a:cs typeface="Times New Roman" panose="02020603050405020304" pitchFamily="18" charset="0"/>
              </a:rPr>
              <a:t>Department of </a:t>
            </a:r>
            <a:r>
              <a:rPr lang="en-US" sz="22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2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00639" y="0"/>
            <a:ext cx="6019560" cy="837720"/>
          </a:xfrm>
          <a:prstGeom prst="rect">
            <a:avLst/>
          </a:prstGeom>
          <a:noFill/>
          <a:ln w="9360">
            <a:noFill/>
          </a:ln>
        </p:spPr>
        <p:txBody>
          <a:bodyPr anchor="ctr">
            <a:noAutofit/>
          </a:bodyPr>
          <a:lstStyle/>
          <a:p>
            <a:pPr algn="ctr">
              <a:lnSpc>
                <a:spcPct val="100000"/>
              </a:lnSpc>
            </a:pPr>
            <a:r>
              <a:rPr lang="en" sz="3200" b="1" strike="noStrike" spc="-1" dirty="0">
                <a:solidFill>
                  <a:srgbClr val="000000"/>
                </a:solidFill>
                <a:latin typeface="Times New Roman" panose="02020603050405020304" pitchFamily="18" charset="0"/>
                <a:cs typeface="Times New Roman" panose="02020603050405020304" pitchFamily="18" charset="0"/>
              </a:rPr>
              <a:t>Content</a:t>
            </a:r>
            <a:endParaRPr lang="en-US" sz="30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927579" y="1314226"/>
            <a:ext cx="6491316" cy="5042294"/>
          </a:xfrm>
          <a:prstGeom prst="rect">
            <a:avLst/>
          </a:prstGeom>
          <a:noFill/>
          <a:ln w="9360">
            <a:noFill/>
          </a:ln>
        </p:spPr>
        <p:txBody>
          <a:bodyPr>
            <a:noAutofit/>
          </a:bodyPr>
          <a:lstStyle/>
          <a:p>
            <a:pPr marL="425450" lvl="0" indent="-285750">
              <a:lnSpc>
                <a:spcPct val="150000"/>
              </a:lnSpc>
              <a:buClr>
                <a:srgbClr val="000000"/>
              </a:buClr>
              <a:buSzPts val="1400"/>
              <a:buFont typeface="Arial" panose="020B0604020202020204" pitchFamily="34" charset="0"/>
              <a:buChar char="•"/>
            </a:pPr>
            <a:r>
              <a:rPr lang="en-US" sz="1600" spc="-1" dirty="0">
                <a:solidFill>
                  <a:srgbClr val="000000"/>
                </a:solidFill>
                <a:latin typeface="Times New Roman" panose="02020603050405020304" pitchFamily="18" charset="0"/>
                <a:cs typeface="Times New Roman" panose="02020603050405020304" pitchFamily="18" charset="0"/>
              </a:rPr>
              <a:t>Introduction</a:t>
            </a:r>
          </a:p>
          <a:p>
            <a:pPr marL="425450" lvl="0" indent="-285750">
              <a:lnSpc>
                <a:spcPct val="150000"/>
              </a:lnSpc>
              <a:buClr>
                <a:srgbClr val="000000"/>
              </a:buClr>
              <a:buSzPts val="1400"/>
              <a:buFont typeface="Arial" panose="020B0604020202020204" pitchFamily="34" charset="0"/>
              <a:buChar char="•"/>
            </a:pPr>
            <a:r>
              <a:rPr lang="en-US" sz="1600" spc="-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Problem Statement</a:t>
            </a:r>
          </a:p>
          <a:p>
            <a:pPr marL="425450" lvl="0" indent="-285750">
              <a:lnSpc>
                <a:spcPct val="150000"/>
              </a:lnSpc>
              <a:buClr>
                <a:srgbClr val="000000"/>
              </a:buClr>
              <a:buSzPts val="1400"/>
              <a:buFont typeface="Arial" panose="020B0604020202020204" pitchFamily="34" charset="0"/>
              <a:buChar char="•"/>
            </a:pPr>
            <a:r>
              <a:rPr lang="en-US" sz="1600" spc="-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Objectives of the paper</a:t>
            </a:r>
          </a:p>
          <a:p>
            <a:pPr marL="425450" lvl="0" indent="-285750">
              <a:lnSpc>
                <a:spcPct val="150000"/>
              </a:lnSpc>
              <a:buClr>
                <a:srgbClr val="000000"/>
              </a:buClr>
              <a:buSzPts val="1400"/>
              <a:buFont typeface="Arial" panose="020B0604020202020204" pitchFamily="34" charset="0"/>
              <a:buChar char="•"/>
            </a:pPr>
            <a:r>
              <a:rPr lang="en-US" sz="1600" spc="-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Literature Review</a:t>
            </a:r>
          </a:p>
          <a:p>
            <a:pPr marL="425450" lvl="0" indent="-285750">
              <a:lnSpc>
                <a:spcPct val="150000"/>
              </a:lnSpc>
              <a:buClr>
                <a:srgbClr val="000000"/>
              </a:buClr>
              <a:buSzPts val="1400"/>
              <a:buFont typeface="Arial" panose="020B0604020202020204" pitchFamily="34" charset="0"/>
              <a:buChar char="•"/>
            </a:pPr>
            <a:r>
              <a:rPr lang="en-US" sz="1600" spc="-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Proposed Methodology</a:t>
            </a:r>
          </a:p>
          <a:p>
            <a:pPr marL="425450" lvl="0" indent="-285750">
              <a:lnSpc>
                <a:spcPct val="150000"/>
              </a:lnSpc>
              <a:buClr>
                <a:srgbClr val="000000"/>
              </a:buClr>
              <a:buSzPts val="1400"/>
              <a:buFont typeface="Arial" panose="020B0604020202020204" pitchFamily="34" charset="0"/>
              <a:buChar char="•"/>
            </a:pPr>
            <a:r>
              <a:rPr lang="en-US" sz="1600" spc="-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System Architecture &amp; Workflow</a:t>
            </a:r>
          </a:p>
          <a:p>
            <a:pPr marL="425450" lvl="0" indent="-285750">
              <a:lnSpc>
                <a:spcPct val="150000"/>
              </a:lnSpc>
              <a:buClr>
                <a:srgbClr val="000000"/>
              </a:buClr>
              <a:buSzPts val="1400"/>
              <a:buFont typeface="Arial" panose="020B0604020202020204" pitchFamily="34" charset="0"/>
              <a:buChar char="•"/>
            </a:pPr>
            <a:r>
              <a:rPr lang="en-US" sz="1600" spc="-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Tools &amp; Technologies</a:t>
            </a:r>
          </a:p>
          <a:p>
            <a:pPr marL="425450" lvl="0" indent="-285750">
              <a:lnSpc>
                <a:spcPct val="150000"/>
              </a:lnSpc>
              <a:buClr>
                <a:srgbClr val="000000"/>
              </a:buClr>
              <a:buSzPts val="1400"/>
              <a:buFont typeface="Arial" panose="020B0604020202020204" pitchFamily="34" charset="0"/>
              <a:buChar char="•"/>
            </a:pPr>
            <a:r>
              <a:rPr lang="en-US" sz="1600" spc="-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Results &amp; Analysis</a:t>
            </a:r>
          </a:p>
          <a:p>
            <a:pPr marL="425450" lvl="0" indent="-285750">
              <a:lnSpc>
                <a:spcPct val="150000"/>
              </a:lnSpc>
              <a:buClr>
                <a:srgbClr val="000000"/>
              </a:buClr>
              <a:buSzPts val="1400"/>
              <a:buFont typeface="Arial" panose="020B0604020202020204" pitchFamily="34" charset="0"/>
              <a:buChar char="•"/>
            </a:pPr>
            <a:r>
              <a:rPr lang="en-US" sz="1600" spc="-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Advantages</a:t>
            </a:r>
          </a:p>
          <a:p>
            <a:pPr marL="425450" lvl="0" indent="-285750">
              <a:lnSpc>
                <a:spcPct val="150000"/>
              </a:lnSpc>
              <a:buClr>
                <a:srgbClr val="000000"/>
              </a:buClr>
              <a:buSzPts val="1400"/>
              <a:buFont typeface="Arial" panose="020B0604020202020204" pitchFamily="34" charset="0"/>
              <a:buChar char="•"/>
            </a:pPr>
            <a:r>
              <a:rPr lang="en-US" sz="1600" spc="-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Limitations &amp; Future Scope</a:t>
            </a:r>
          </a:p>
          <a:p>
            <a:pPr marL="425450" lvl="0" indent="-285750">
              <a:lnSpc>
                <a:spcPct val="150000"/>
              </a:lnSpc>
              <a:buClr>
                <a:srgbClr val="000000"/>
              </a:buClr>
              <a:buSzPts val="1400"/>
              <a:buFont typeface="Arial" panose="020B0604020202020204" pitchFamily="34" charset="0"/>
              <a:buChar char="•"/>
            </a:pPr>
            <a:r>
              <a:rPr lang="en-US" sz="1600" spc="-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Conclusion</a:t>
            </a:r>
          </a:p>
          <a:p>
            <a:pPr marL="425450" lvl="0" indent="-285750">
              <a:lnSpc>
                <a:spcPct val="150000"/>
              </a:lnSpc>
              <a:buClr>
                <a:srgbClr val="000000"/>
              </a:buClr>
              <a:buSzPts val="1400"/>
              <a:buFont typeface="Arial" panose="020B0604020202020204" pitchFamily="34" charset="0"/>
              <a:buChar char="•"/>
            </a:pPr>
            <a:r>
              <a:rPr lang="en-US" sz="1600" spc="-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Reference</a:t>
            </a:r>
          </a:p>
          <a:p>
            <a:pPr marL="425450" lvl="0" indent="-285750">
              <a:buClr>
                <a:srgbClr val="000000"/>
              </a:buClr>
              <a:buSzPts val="1400"/>
              <a:buFont typeface="Arial" panose="020B0604020202020204" pitchFamily="34" charset="0"/>
              <a:buChar char="•"/>
            </a:pP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589B3-C3E5-7937-AD58-1507BF86B2F3}"/>
              </a:ext>
            </a:extLst>
          </p:cNvPr>
          <p:cNvSpPr>
            <a:spLocks noGrp="1"/>
          </p:cNvSpPr>
          <p:nvPr>
            <p:ph type="title"/>
          </p:nvPr>
        </p:nvSpPr>
        <p:spPr>
          <a:xfrm>
            <a:off x="457200" y="0"/>
            <a:ext cx="5486040" cy="914040"/>
          </a:xfrm>
        </p:spPr>
        <p:txBody>
          <a:bodyPr/>
          <a:lstStyle/>
          <a:p>
            <a:pPr algn="ctr"/>
            <a:r>
              <a:rPr lang="en-IN" sz="3200" b="1" dirty="0">
                <a:latin typeface="Times New Roman" panose="02020603050405020304" pitchFamily="18" charset="0"/>
                <a:cs typeface="Times New Roman" panose="02020603050405020304" pitchFamily="18" charset="0"/>
              </a:rPr>
              <a:t>Introduction</a:t>
            </a:r>
          </a:p>
        </p:txBody>
      </p:sp>
      <p:sp>
        <p:nvSpPr>
          <p:cNvPr id="3" name="Subtitle 2">
            <a:extLst>
              <a:ext uri="{FF2B5EF4-FFF2-40B4-BE49-F238E27FC236}">
                <a16:creationId xmlns:a16="http://schemas.microsoft.com/office/drawing/2014/main" id="{13EE50FB-6D73-1453-71F1-F311EA113835}"/>
              </a:ext>
            </a:extLst>
          </p:cNvPr>
          <p:cNvSpPr>
            <a:spLocks noGrp="1"/>
          </p:cNvSpPr>
          <p:nvPr>
            <p:ph type="subTitle"/>
          </p:nvPr>
        </p:nvSpPr>
        <p:spPr>
          <a:xfrm>
            <a:off x="398283" y="1171876"/>
            <a:ext cx="5544958" cy="5005136"/>
          </a:xfrm>
        </p:spPr>
        <p:txBody>
          <a:bodyPr/>
          <a:lstStyle/>
          <a:p>
            <a:pPr marL="0" indent="0" algn="just">
              <a:lnSpc>
                <a:spcPct val="150000"/>
              </a:lnSpc>
              <a:buNone/>
            </a:pPr>
            <a:r>
              <a:rPr lang="en-IN" sz="1600" b="1" dirty="0">
                <a:latin typeface="Times New Roman" panose="02020603050405020304" pitchFamily="18" charset="0"/>
                <a:cs typeface="Times New Roman" panose="02020603050405020304" pitchFamily="18" charset="0"/>
              </a:rPr>
              <a:t>What are Deepfakes?</a:t>
            </a:r>
          </a:p>
          <a:p>
            <a:pPr marL="0" indent="0" algn="just">
              <a:lnSpc>
                <a:spcPct val="150000"/>
              </a:lnSpc>
              <a:buNone/>
            </a:pPr>
            <a:r>
              <a:rPr lang="en-IN" sz="1600" dirty="0">
                <a:latin typeface="Times New Roman" panose="02020603050405020304" pitchFamily="18" charset="0"/>
                <a:cs typeface="Times New Roman" panose="02020603050405020304" pitchFamily="18" charset="0"/>
              </a:rPr>
              <a:t>AI-synthesized media that convincingly replaces a person’s likeness in images or videos using deep learning.</a:t>
            </a:r>
          </a:p>
          <a:p>
            <a:pPr marL="0" indent="0" algn="just">
              <a:lnSpc>
                <a:spcPct val="150000"/>
              </a:lnSpc>
              <a:buNone/>
            </a:pPr>
            <a:r>
              <a:rPr lang="en-IN" sz="1600" b="1" dirty="0">
                <a:latin typeface="Times New Roman" panose="02020603050405020304" pitchFamily="18" charset="0"/>
                <a:cs typeface="Times New Roman" panose="02020603050405020304" pitchFamily="18" charset="0"/>
              </a:rPr>
              <a:t>Why it Matters?</a:t>
            </a:r>
          </a:p>
          <a:p>
            <a:pPr marL="0" indent="0" algn="just">
              <a:lnSpc>
                <a:spcPct val="150000"/>
              </a:lnSpc>
              <a:buNone/>
            </a:pPr>
            <a:r>
              <a:rPr lang="en-IN" sz="1600" dirty="0">
                <a:latin typeface="Times New Roman" panose="02020603050405020304" pitchFamily="18" charset="0"/>
                <a:cs typeface="Times New Roman" panose="02020603050405020304" pitchFamily="18" charset="0"/>
              </a:rPr>
              <a:t>Threatens digital security, privacy, and public trust. Used for identity fraud, misinformation, and political manipulation.</a:t>
            </a:r>
          </a:p>
          <a:p>
            <a:pPr marL="0" indent="0" algn="just">
              <a:lnSpc>
                <a:spcPct val="150000"/>
              </a:lnSpc>
              <a:buNone/>
            </a:pPr>
            <a:r>
              <a:rPr lang="en-IN" sz="1600" b="1" dirty="0">
                <a:latin typeface="Times New Roman" panose="02020603050405020304" pitchFamily="18" charset="0"/>
                <a:cs typeface="Times New Roman" panose="02020603050405020304" pitchFamily="18" charset="0"/>
              </a:rPr>
              <a:t>Real-World Impact</a:t>
            </a:r>
          </a:p>
          <a:p>
            <a:pPr marL="0" indent="0" algn="just">
              <a:lnSpc>
                <a:spcPct val="150000"/>
              </a:lnSpc>
              <a:buNone/>
            </a:pPr>
            <a:r>
              <a:rPr lang="en-IN" sz="1600" dirty="0">
                <a:latin typeface="Times New Roman" panose="02020603050405020304" pitchFamily="18" charset="0"/>
                <a:cs typeface="Times New Roman" panose="02020603050405020304" pitchFamily="18" charset="0"/>
              </a:rPr>
              <a:t>Viral fake videos or public figures, non-consensual intimate imager, and election interference globally.</a:t>
            </a:r>
          </a:p>
          <a:p>
            <a:pPr marL="0" indent="0" algn="just">
              <a:lnSpc>
                <a:spcPct val="150000"/>
              </a:lnSpc>
              <a:buNone/>
            </a:pPr>
            <a:r>
              <a:rPr lang="en-IN" sz="1600" b="1" dirty="0">
                <a:latin typeface="Times New Roman" panose="02020603050405020304" pitchFamily="18" charset="0"/>
                <a:cs typeface="Times New Roman" panose="02020603050405020304" pitchFamily="18" charset="0"/>
              </a:rPr>
              <a:t>Detection Challenge</a:t>
            </a:r>
          </a:p>
          <a:p>
            <a:pPr marL="0" indent="0" algn="just">
              <a:lnSpc>
                <a:spcPct val="150000"/>
              </a:lnSpc>
              <a:buNone/>
            </a:pPr>
            <a:r>
              <a:rPr lang="en-IN" sz="1600" dirty="0">
                <a:latin typeface="Times New Roman" panose="02020603050405020304" pitchFamily="18" charset="0"/>
                <a:cs typeface="Times New Roman" panose="02020603050405020304" pitchFamily="18" charset="0"/>
              </a:rPr>
              <a:t>Manual detection in ineffective. Modern deepfakes evade traditional handcrafted feature-based methods.</a:t>
            </a:r>
          </a:p>
        </p:txBody>
      </p:sp>
      <p:sp>
        <p:nvSpPr>
          <p:cNvPr id="4" name="Shape 17">
            <a:extLst>
              <a:ext uri="{FF2B5EF4-FFF2-40B4-BE49-F238E27FC236}">
                <a16:creationId xmlns:a16="http://schemas.microsoft.com/office/drawing/2014/main" id="{F39D603A-6772-AA46-338B-5491BEEAB927}"/>
              </a:ext>
            </a:extLst>
          </p:cNvPr>
          <p:cNvSpPr/>
          <p:nvPr/>
        </p:nvSpPr>
        <p:spPr>
          <a:xfrm>
            <a:off x="6152606" y="1754204"/>
            <a:ext cx="2834640" cy="3840480"/>
          </a:xfrm>
          <a:prstGeom prst="rect">
            <a:avLst/>
          </a:prstGeom>
          <a:solidFill>
            <a:srgbClr val="FFF0F0"/>
          </a:solidFill>
          <a:ln w="19050">
            <a:solidFill>
              <a:srgbClr val="CC0000"/>
            </a:solidFill>
            <a:prstDash val="solid"/>
          </a:ln>
        </p:spPr>
      </p:sp>
      <p:sp>
        <p:nvSpPr>
          <p:cNvPr id="5" name="Text 18">
            <a:extLst>
              <a:ext uri="{FF2B5EF4-FFF2-40B4-BE49-F238E27FC236}">
                <a16:creationId xmlns:a16="http://schemas.microsoft.com/office/drawing/2014/main" id="{8206BC78-5A6A-D6B5-BD00-3DDED2D30B95}"/>
              </a:ext>
            </a:extLst>
          </p:cNvPr>
          <p:cNvSpPr/>
          <p:nvPr/>
        </p:nvSpPr>
        <p:spPr>
          <a:xfrm>
            <a:off x="6152606" y="1366344"/>
            <a:ext cx="2834640" cy="384048"/>
          </a:xfrm>
          <a:prstGeom prst="rect">
            <a:avLst/>
          </a:prstGeom>
          <a:solidFill>
            <a:srgbClr val="CC0000"/>
          </a:solidFill>
          <a:ln/>
        </p:spPr>
        <p:txBody>
          <a:bodyPr wrap="square" lIns="0" tIns="0" rIns="0" bIns="0" rtlCol="0" anchor="ct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Key Statistics</a:t>
            </a:r>
            <a:endParaRPr lang="en-US" sz="1300" dirty="0"/>
          </a:p>
        </p:txBody>
      </p:sp>
      <p:sp>
        <p:nvSpPr>
          <p:cNvPr id="6" name="Text 19">
            <a:extLst>
              <a:ext uri="{FF2B5EF4-FFF2-40B4-BE49-F238E27FC236}">
                <a16:creationId xmlns:a16="http://schemas.microsoft.com/office/drawing/2014/main" id="{038733B5-F3A8-AD29-A7D7-47FA66731BF4}"/>
              </a:ext>
            </a:extLst>
          </p:cNvPr>
          <p:cNvSpPr/>
          <p:nvPr/>
        </p:nvSpPr>
        <p:spPr>
          <a:xfrm>
            <a:off x="6198326" y="1975221"/>
            <a:ext cx="2743200" cy="1020613"/>
          </a:xfrm>
          <a:prstGeom prst="rect">
            <a:avLst/>
          </a:prstGeom>
          <a:noFill/>
          <a:ln/>
        </p:spPr>
        <p:txBody>
          <a:bodyPr wrap="square" rtlCol="0" anchor="ctr"/>
          <a:lstStyle/>
          <a:p>
            <a:pPr marL="0" indent="0" algn="ctr">
              <a:buNone/>
            </a:pPr>
            <a:r>
              <a:rPr lang="en-US" sz="2200" b="1" dirty="0">
                <a:solidFill>
                  <a:srgbClr val="CC0000"/>
                </a:solidFill>
                <a:latin typeface="Times New Roman" panose="02020603050405020304" pitchFamily="18" charset="0"/>
                <a:ea typeface="Arial Black" pitchFamily="34" charset="-122"/>
                <a:cs typeface="Times New Roman" panose="02020603050405020304" pitchFamily="18" charset="0"/>
              </a:rPr>
              <a:t>500%</a:t>
            </a:r>
          </a:p>
          <a:p>
            <a:pPr marL="0" indent="0" algn="ctr">
              <a:buNone/>
            </a:pPr>
            <a:r>
              <a:rPr lang="en-US" sz="1200" dirty="0">
                <a:latin typeface="Times New Roman" panose="02020603050405020304" pitchFamily="18" charset="0"/>
                <a:cs typeface="Times New Roman" panose="02020603050405020304" pitchFamily="18" charset="0"/>
              </a:rPr>
              <a:t>Rise in deepfake</a:t>
            </a:r>
          </a:p>
          <a:p>
            <a:pPr marL="0" indent="0" algn="ctr">
              <a:buNone/>
            </a:pPr>
            <a:r>
              <a:rPr lang="en-US" sz="1200" dirty="0">
                <a:latin typeface="Times New Roman" panose="02020603050405020304" pitchFamily="18" charset="0"/>
                <a:cs typeface="Times New Roman" panose="02020603050405020304" pitchFamily="18" charset="0"/>
              </a:rPr>
              <a:t>videos (2019–2023</a:t>
            </a:r>
            <a:r>
              <a:rPr lang="en-US" sz="1200" dirty="0"/>
              <a:t>)</a:t>
            </a:r>
          </a:p>
          <a:p>
            <a:pPr marL="0" indent="0" algn="ctr">
              <a:buNone/>
            </a:pPr>
            <a:endParaRPr lang="en-US" sz="2200" dirty="0"/>
          </a:p>
        </p:txBody>
      </p:sp>
      <p:sp>
        <p:nvSpPr>
          <p:cNvPr id="8" name="Text 21">
            <a:extLst>
              <a:ext uri="{FF2B5EF4-FFF2-40B4-BE49-F238E27FC236}">
                <a16:creationId xmlns:a16="http://schemas.microsoft.com/office/drawing/2014/main" id="{DE814357-F3F1-C3BE-85A0-A84669B2EAF1}"/>
              </a:ext>
            </a:extLst>
          </p:cNvPr>
          <p:cNvSpPr/>
          <p:nvPr/>
        </p:nvSpPr>
        <p:spPr>
          <a:xfrm>
            <a:off x="6198326" y="2995834"/>
            <a:ext cx="2743200" cy="787394"/>
          </a:xfrm>
          <a:prstGeom prst="rect">
            <a:avLst/>
          </a:prstGeom>
          <a:noFill/>
          <a:ln/>
        </p:spPr>
        <p:txBody>
          <a:bodyPr wrap="square" rtlCol="0" anchor="ctr"/>
          <a:lstStyle/>
          <a:p>
            <a:pPr marL="0" indent="0" algn="ctr">
              <a:buNone/>
            </a:pPr>
            <a:r>
              <a:rPr lang="en-US" sz="2200" b="1" dirty="0">
                <a:solidFill>
                  <a:srgbClr val="CC0000"/>
                </a:solidFill>
                <a:latin typeface="Times New Roman" panose="02020603050405020304" pitchFamily="18" charset="0"/>
                <a:ea typeface="Arial Black" pitchFamily="34" charset="-122"/>
                <a:cs typeface="Times New Roman" panose="02020603050405020304" pitchFamily="18" charset="0"/>
              </a:rPr>
              <a:t>96%</a:t>
            </a:r>
          </a:p>
          <a:p>
            <a:pPr marL="0" indent="0" algn="ctr">
              <a:buNone/>
            </a:pPr>
            <a:r>
              <a:rPr lang="en-US" sz="1200" dirty="0">
                <a:latin typeface="Times New Roman" panose="02020603050405020304" pitchFamily="18" charset="0"/>
                <a:cs typeface="Times New Roman" panose="02020603050405020304" pitchFamily="18" charset="0"/>
              </a:rPr>
              <a:t>Deepfakes are</a:t>
            </a:r>
          </a:p>
          <a:p>
            <a:pPr marL="0" indent="0" algn="ctr">
              <a:buNone/>
            </a:pPr>
            <a:r>
              <a:rPr lang="en-US" sz="1200" dirty="0">
                <a:latin typeface="Times New Roman" panose="02020603050405020304" pitchFamily="18" charset="0"/>
                <a:cs typeface="Times New Roman" panose="02020603050405020304" pitchFamily="18" charset="0"/>
              </a:rPr>
              <a:t>non-consensual</a:t>
            </a:r>
          </a:p>
          <a:p>
            <a:pPr marL="0" indent="0" algn="ctr">
              <a:buNone/>
            </a:pPr>
            <a:endParaRPr lang="en-US" sz="2200" dirty="0"/>
          </a:p>
        </p:txBody>
      </p:sp>
      <p:sp>
        <p:nvSpPr>
          <p:cNvPr id="9" name="Text 23">
            <a:extLst>
              <a:ext uri="{FF2B5EF4-FFF2-40B4-BE49-F238E27FC236}">
                <a16:creationId xmlns:a16="http://schemas.microsoft.com/office/drawing/2014/main" id="{775CCB53-ABA7-5099-E7D8-B57BA2F42C37}"/>
              </a:ext>
            </a:extLst>
          </p:cNvPr>
          <p:cNvSpPr/>
          <p:nvPr/>
        </p:nvSpPr>
        <p:spPr>
          <a:xfrm>
            <a:off x="6198326" y="3783228"/>
            <a:ext cx="2743200" cy="1020613"/>
          </a:xfrm>
          <a:prstGeom prst="rect">
            <a:avLst/>
          </a:prstGeom>
          <a:noFill/>
          <a:ln/>
        </p:spPr>
        <p:txBody>
          <a:bodyPr wrap="square" rtlCol="0" anchor="ctr"/>
          <a:lstStyle/>
          <a:p>
            <a:pPr marL="0" indent="0" algn="ctr">
              <a:buNone/>
            </a:pPr>
            <a:r>
              <a:rPr lang="en-US" sz="2200" b="1" dirty="0">
                <a:solidFill>
                  <a:srgbClr val="CC0000"/>
                </a:solidFill>
                <a:latin typeface="Times New Roman" panose="02020603050405020304" pitchFamily="18" charset="0"/>
                <a:ea typeface="Arial Black" pitchFamily="34" charset="-122"/>
                <a:cs typeface="Times New Roman" panose="02020603050405020304" pitchFamily="18" charset="0"/>
              </a:rPr>
              <a:t>94.3%</a:t>
            </a:r>
          </a:p>
          <a:p>
            <a:pPr marL="0" indent="0" algn="ctr">
              <a:buNone/>
            </a:pPr>
            <a:r>
              <a:rPr lang="en-US" sz="1200" dirty="0">
                <a:latin typeface="Times New Roman" panose="02020603050405020304" pitchFamily="18" charset="0"/>
                <a:cs typeface="Times New Roman" panose="02020603050405020304" pitchFamily="18" charset="0"/>
              </a:rPr>
              <a:t>Proposed hybrid</a:t>
            </a:r>
          </a:p>
          <a:p>
            <a:pPr marL="0" indent="0" algn="ctr">
              <a:buNone/>
            </a:pPr>
            <a:r>
              <a:rPr lang="en-US" sz="1200" dirty="0">
                <a:latin typeface="Times New Roman" panose="02020603050405020304" pitchFamily="18" charset="0"/>
                <a:cs typeface="Times New Roman" panose="02020603050405020304" pitchFamily="18" charset="0"/>
              </a:rPr>
              <a:t>model accuracy</a:t>
            </a:r>
          </a:p>
          <a:p>
            <a:pPr marL="0" indent="0" algn="ctr">
              <a:buNone/>
            </a:pPr>
            <a:endParaRPr lang="en-US" sz="2200" dirty="0"/>
          </a:p>
        </p:txBody>
      </p:sp>
      <p:sp>
        <p:nvSpPr>
          <p:cNvPr id="10" name="Text 25">
            <a:extLst>
              <a:ext uri="{FF2B5EF4-FFF2-40B4-BE49-F238E27FC236}">
                <a16:creationId xmlns:a16="http://schemas.microsoft.com/office/drawing/2014/main" id="{E37804F0-D129-25E2-60C0-024BE3B9D116}"/>
              </a:ext>
            </a:extLst>
          </p:cNvPr>
          <p:cNvSpPr/>
          <p:nvPr/>
        </p:nvSpPr>
        <p:spPr>
          <a:xfrm>
            <a:off x="6152606" y="4875757"/>
            <a:ext cx="2743200" cy="589103"/>
          </a:xfrm>
          <a:prstGeom prst="rect">
            <a:avLst/>
          </a:prstGeom>
          <a:noFill/>
          <a:ln/>
        </p:spPr>
        <p:txBody>
          <a:bodyPr wrap="square" rtlCol="0" anchor="ctr"/>
          <a:lstStyle/>
          <a:p>
            <a:pPr marL="0" indent="0" algn="ctr">
              <a:buNone/>
            </a:pPr>
            <a:r>
              <a:rPr lang="en-US" sz="2200" b="1" dirty="0">
                <a:solidFill>
                  <a:srgbClr val="CC0000"/>
                </a:solidFill>
                <a:latin typeface="Times New Roman" panose="02020603050405020304" pitchFamily="18" charset="0"/>
                <a:ea typeface="Arial Black" pitchFamily="34" charset="-122"/>
                <a:cs typeface="Times New Roman" panose="02020603050405020304" pitchFamily="18" charset="0"/>
              </a:rPr>
              <a:t>11ms</a:t>
            </a:r>
          </a:p>
          <a:p>
            <a:pPr algn="ctr"/>
            <a:r>
              <a:rPr lang="en-US" sz="1200" dirty="0">
                <a:solidFill>
                  <a:srgbClr val="555555"/>
                </a:solidFill>
                <a:latin typeface="Times New Roman" panose="02020603050405020304" pitchFamily="18" charset="0"/>
                <a:ea typeface="Times New Roman" pitchFamily="34" charset="-122"/>
                <a:cs typeface="Times New Roman" panose="02020603050405020304" pitchFamily="18" charset="0"/>
              </a:rPr>
              <a:t>Target for real-time</a:t>
            </a:r>
            <a:endParaRPr lang="en-US" sz="1200" dirty="0">
              <a:latin typeface="Times New Roman" panose="02020603050405020304" pitchFamily="18" charset="0"/>
              <a:cs typeface="Times New Roman" panose="02020603050405020304" pitchFamily="18" charset="0"/>
            </a:endParaRPr>
          </a:p>
          <a:p>
            <a:pPr algn="ctr"/>
            <a:r>
              <a:rPr lang="en-US" sz="1200" dirty="0">
                <a:solidFill>
                  <a:srgbClr val="555555"/>
                </a:solidFill>
                <a:latin typeface="Times New Roman" panose="02020603050405020304" pitchFamily="18" charset="0"/>
                <a:ea typeface="Times New Roman" pitchFamily="34" charset="-122"/>
                <a:cs typeface="Times New Roman" panose="02020603050405020304" pitchFamily="18" charset="0"/>
              </a:rPr>
              <a:t>detection systems</a:t>
            </a:r>
            <a:endParaRPr lang="en-US" sz="1200" dirty="0">
              <a:latin typeface="Times New Roman" panose="02020603050405020304" pitchFamily="18" charset="0"/>
              <a:cs typeface="Times New Roman" panose="02020603050405020304" pitchFamily="18" charset="0"/>
            </a:endParaRPr>
          </a:p>
          <a:p>
            <a:pPr marL="0" indent="0" algn="ctr">
              <a:buNone/>
            </a:pPr>
            <a:endParaRPr lang="en-US" sz="2200" dirty="0"/>
          </a:p>
        </p:txBody>
      </p:sp>
    </p:spTree>
    <p:extLst>
      <p:ext uri="{BB962C8B-B14F-4D97-AF65-F5344CB8AC3E}">
        <p14:creationId xmlns:p14="http://schemas.microsoft.com/office/powerpoint/2010/main" val="39973393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8E29D-651E-31A5-F4B8-6F8216D7342A}"/>
              </a:ext>
            </a:extLst>
          </p:cNvPr>
          <p:cNvSpPr>
            <a:spLocks noGrp="1"/>
          </p:cNvSpPr>
          <p:nvPr>
            <p:ph type="title"/>
          </p:nvPr>
        </p:nvSpPr>
        <p:spPr>
          <a:xfrm>
            <a:off x="457200" y="0"/>
            <a:ext cx="5486040" cy="914040"/>
          </a:xfrm>
        </p:spPr>
        <p:txBody>
          <a:bodyPr/>
          <a:lstStyle/>
          <a:p>
            <a:pPr algn="ctr"/>
            <a:r>
              <a:rPr lang="en-IN" sz="3200" b="1" dirty="0"/>
              <a:t>Problem Statement</a:t>
            </a:r>
          </a:p>
        </p:txBody>
      </p:sp>
      <p:sp>
        <p:nvSpPr>
          <p:cNvPr id="3" name="Subtitle 2">
            <a:extLst>
              <a:ext uri="{FF2B5EF4-FFF2-40B4-BE49-F238E27FC236}">
                <a16:creationId xmlns:a16="http://schemas.microsoft.com/office/drawing/2014/main" id="{3F1CFA89-4890-2BFD-0854-B1417567C534}"/>
              </a:ext>
            </a:extLst>
          </p:cNvPr>
          <p:cNvSpPr>
            <a:spLocks noGrp="1"/>
          </p:cNvSpPr>
          <p:nvPr>
            <p:ph type="subTitle"/>
          </p:nvPr>
        </p:nvSpPr>
        <p:spPr>
          <a:xfrm>
            <a:off x="681176" y="1279869"/>
            <a:ext cx="7781647" cy="4298262"/>
          </a:xfrm>
        </p:spPr>
        <p:txBody>
          <a:bodyPr/>
          <a:lstStyle/>
          <a:p>
            <a:pPr marL="0" indent="0" algn="just">
              <a:lnSpc>
                <a:spcPct val="150000"/>
              </a:lnSpc>
              <a:buNone/>
            </a:pPr>
            <a:r>
              <a:rPr lang="en-US" sz="1600" dirty="0">
                <a:latin typeface="Times New Roman" panose="02020603050405020304" pitchFamily="18" charset="0"/>
                <a:cs typeface="Times New Roman" panose="02020603050405020304" pitchFamily="18" charset="0"/>
              </a:rPr>
              <a:t>Existing deepfake detection approaches using CNNs lose spatial information during pooling operations, limiting their ability to detect subtle structural manipulations. Standalone Capsule Networks, while preserving spatial relationships, lack scalability. There is a critical need for a robust hybrid model that combines the feature extraction power of CNNs with the spatial reasoning capabilities of Capsule Networks.</a:t>
            </a:r>
          </a:p>
          <a:p>
            <a:pPr marL="0" indent="0" algn="just">
              <a:lnSpc>
                <a:spcPct val="150000"/>
              </a:lnSpc>
              <a:buNone/>
            </a:pPr>
            <a:endParaRPr lang="en-US" sz="1600" dirty="0">
              <a:latin typeface="Times New Roman" panose="02020603050405020304" pitchFamily="18" charset="0"/>
              <a:cs typeface="Times New Roman" panose="02020603050405020304" pitchFamily="18" charset="0"/>
            </a:endParaRPr>
          </a:p>
          <a:p>
            <a:pPr marL="0" indent="0" algn="just">
              <a:lnSpc>
                <a:spcPct val="150000"/>
              </a:lnSpc>
              <a:buNone/>
            </a:pPr>
            <a:r>
              <a:rPr lang="en-US" sz="1600" dirty="0">
                <a:latin typeface="Times New Roman" panose="02020603050405020304" pitchFamily="18" charset="0"/>
                <a:cs typeface="Times New Roman" panose="02020603050405020304" pitchFamily="18" charset="0"/>
              </a:rPr>
              <a:t>With the rapid growth of AI-generated media, deepfakes have become increasingly realistic and difficult to detect. This poses serious risks such as misinformation, identity misuse, and threats to digital security. Existing detection methods often fail to generalize across different types of manipulations. Therefore, an efficient hybrid framework is needed to improve detection accuracy and robustness.</a:t>
            </a:r>
          </a:p>
        </p:txBody>
      </p:sp>
    </p:spTree>
    <p:extLst>
      <p:ext uri="{BB962C8B-B14F-4D97-AF65-F5344CB8AC3E}">
        <p14:creationId xmlns:p14="http://schemas.microsoft.com/office/powerpoint/2010/main" val="27519065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441C1-F307-33D1-01E5-D810BFEE530F}"/>
              </a:ext>
            </a:extLst>
          </p:cNvPr>
          <p:cNvSpPr>
            <a:spLocks noGrp="1"/>
          </p:cNvSpPr>
          <p:nvPr>
            <p:ph type="title"/>
          </p:nvPr>
        </p:nvSpPr>
        <p:spPr>
          <a:xfrm>
            <a:off x="603315" y="0"/>
            <a:ext cx="5486040" cy="914040"/>
          </a:xfrm>
        </p:spPr>
        <p:txBody>
          <a:bodyPr/>
          <a:lstStyle/>
          <a:p>
            <a:pPr algn="ctr"/>
            <a:r>
              <a:rPr lang="en-IN" sz="3200" b="1" dirty="0">
                <a:latin typeface="Times New Roman" panose="02020603050405020304" pitchFamily="18" charset="0"/>
                <a:cs typeface="Times New Roman" panose="02020603050405020304" pitchFamily="18" charset="0"/>
              </a:rPr>
              <a:t>Objectives</a:t>
            </a:r>
          </a:p>
        </p:txBody>
      </p:sp>
      <p:sp>
        <p:nvSpPr>
          <p:cNvPr id="3" name="Subtitle 2">
            <a:extLst>
              <a:ext uri="{FF2B5EF4-FFF2-40B4-BE49-F238E27FC236}">
                <a16:creationId xmlns:a16="http://schemas.microsoft.com/office/drawing/2014/main" id="{6E1A86CD-C231-00FF-AE4C-3E42ED9761F5}"/>
              </a:ext>
            </a:extLst>
          </p:cNvPr>
          <p:cNvSpPr>
            <a:spLocks noGrp="1"/>
          </p:cNvSpPr>
          <p:nvPr>
            <p:ph type="subTitle"/>
          </p:nvPr>
        </p:nvSpPr>
        <p:spPr>
          <a:xfrm>
            <a:off x="831915" y="1538926"/>
            <a:ext cx="7480169" cy="3780147"/>
          </a:xfrm>
        </p:spPr>
        <p:txBody>
          <a:bodyPr/>
          <a:lstStyle/>
          <a:p>
            <a:pPr marL="285750" indent="-28575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Design a hybrid CNN + Capsule Network model for effective deepfake detection.</a:t>
            </a:r>
          </a:p>
          <a:p>
            <a:pPr marL="285750" indent="-28575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Implement preprocessing pipeline: face extraction, normalization, and data augmentation.</a:t>
            </a:r>
          </a:p>
          <a:p>
            <a:pPr marL="285750" indent="-28575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Train and evaluate the model on </a:t>
            </a:r>
            <a:r>
              <a:rPr lang="en-IN" sz="1600" dirty="0" err="1">
                <a:latin typeface="Times New Roman" panose="02020603050405020304" pitchFamily="18" charset="0"/>
                <a:cs typeface="Times New Roman" panose="02020603050405020304" pitchFamily="18" charset="0"/>
              </a:rPr>
              <a:t>FaceForensics</a:t>
            </a:r>
            <a:r>
              <a:rPr lang="en-IN" sz="1600" dirty="0">
                <a:latin typeface="Times New Roman" panose="02020603050405020304" pitchFamily="18" charset="0"/>
                <a:cs typeface="Times New Roman" panose="02020603050405020304" pitchFamily="18" charset="0"/>
              </a:rPr>
              <a:t>++ and Celeb-DF benchmark datasets.</a:t>
            </a:r>
          </a:p>
          <a:p>
            <a:pPr marL="285750" indent="-28575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Achieve superior accuracy, precision, recall, and F1-score over standalone models.</a:t>
            </a:r>
          </a:p>
          <a:p>
            <a:pPr marL="285750" indent="-28575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Demonstrate cross-dataset generalization on unseen deepfake data.</a:t>
            </a: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Analyze the effectiveness of spatial feature preservation in improving detection performance.</a:t>
            </a: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Compare the proposed hybrid approach with existing deepfake detection techniques to identify strengths and limitations.</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56717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7B545-5F76-1962-7A9B-13F40226B6EC}"/>
              </a:ext>
            </a:extLst>
          </p:cNvPr>
          <p:cNvSpPr>
            <a:spLocks noGrp="1"/>
          </p:cNvSpPr>
          <p:nvPr>
            <p:ph type="title"/>
          </p:nvPr>
        </p:nvSpPr>
        <p:spPr/>
        <p:txBody>
          <a:bodyPr/>
          <a:lstStyle/>
          <a:p>
            <a:pPr algn="ctr"/>
            <a:r>
              <a:rPr lang="en-IN" sz="3200" b="1" dirty="0">
                <a:latin typeface="Times New Roman" panose="02020603050405020304" pitchFamily="18" charset="0"/>
                <a:cs typeface="Times New Roman" panose="02020603050405020304" pitchFamily="18" charset="0"/>
              </a:rPr>
              <a:t>Literature Review</a:t>
            </a:r>
          </a:p>
        </p:txBody>
      </p:sp>
      <p:graphicFrame>
        <p:nvGraphicFramePr>
          <p:cNvPr id="8" name="Table 0"/>
          <p:cNvGraphicFramePr>
            <a:graphicFrameLocks noGrp="1"/>
          </p:cNvGraphicFramePr>
          <p:nvPr>
            <p:extLst>
              <p:ext uri="{D42A27DB-BD31-4B8C-83A1-F6EECF244321}">
                <p14:modId xmlns:p14="http://schemas.microsoft.com/office/powerpoint/2010/main" val="1371117847"/>
              </p:ext>
            </p:extLst>
          </p:nvPr>
        </p:nvGraphicFramePr>
        <p:xfrm>
          <a:off x="365760" y="1498862"/>
          <a:ext cx="8412480" cy="4066095"/>
        </p:xfrm>
        <a:graphic>
          <a:graphicData uri="http://schemas.openxmlformats.org/drawingml/2006/table">
            <a:tbl>
              <a:tblPr/>
              <a:tblGrid>
                <a:gridCol w="292608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tblGrid>
              <a:tr h="527901">
                <a:tc>
                  <a:txBody>
                    <a:bodyPr/>
                    <a:lstStyle/>
                    <a:p>
                      <a:pPr marL="0" indent="0" algn="ctr">
                        <a:buNone/>
                      </a:pPr>
                      <a:r>
                        <a:rPr lang="en-US" sz="1600" b="1" dirty="0">
                          <a:solidFill>
                            <a:srgbClr val="FFFFFF"/>
                          </a:solidFill>
                          <a:latin typeface="Times New Roman" panose="02020603050405020304" pitchFamily="18" charset="0"/>
                          <a:ea typeface="Times New Roman" pitchFamily="34" charset="-122"/>
                          <a:cs typeface="Times New Roman" panose="02020603050405020304" pitchFamily="18" charset="0"/>
                        </a:rPr>
                        <a:t>Approach</a:t>
                      </a:r>
                      <a:endParaRPr lang="en-US" sz="1600" dirty="0">
                        <a:latin typeface="Times New Roman" panose="02020603050405020304" pitchFamily="18" charset="0"/>
                        <a:ea typeface="Times New Roman" charset="0"/>
                        <a:cs typeface="Times New Roman" panose="02020603050405020304" pitchFamily="18" charset="0"/>
                      </a:endParaRPr>
                    </a:p>
                  </a:txBody>
                  <a:tcPr>
                    <a:lnL w="10160" cap="flat" cmpd="sng" algn="ctr">
                      <a:solidFill>
                        <a:srgbClr val="E0E0E0"/>
                      </a:solidFill>
                      <a:prstDash val="solid"/>
                      <a:round/>
                      <a:headEnd type="none" w="med" len="med"/>
                      <a:tailEnd type="none" w="med" len="med"/>
                    </a:lnL>
                    <a:lnR w="10160" cap="flat" cmpd="sng" algn="ctr">
                      <a:solidFill>
                        <a:srgbClr val="E0E0E0"/>
                      </a:solidFill>
                      <a:prstDash val="solid"/>
                      <a:round/>
                      <a:headEnd type="none" w="med" len="med"/>
                      <a:tailEnd type="none" w="med" len="med"/>
                    </a:lnR>
                    <a:lnT w="10160" cap="flat" cmpd="sng" algn="ctr">
                      <a:solidFill>
                        <a:srgbClr val="E0E0E0"/>
                      </a:solidFill>
                      <a:prstDash val="solid"/>
                      <a:round/>
                      <a:headEnd type="none" w="med" len="med"/>
                      <a:tailEnd type="none" w="med" len="med"/>
                    </a:lnT>
                    <a:lnB w="10160" cap="flat" cmpd="sng" algn="ctr">
                      <a:solidFill>
                        <a:srgbClr val="E0E0E0"/>
                      </a:solidFill>
                      <a:prstDash val="solid"/>
                      <a:round/>
                      <a:headEnd type="none" w="med" len="med"/>
                      <a:tailEnd type="none" w="med" len="med"/>
                    </a:lnB>
                    <a:solidFill>
                      <a:srgbClr val="CC0000"/>
                    </a:solidFill>
                  </a:tcPr>
                </a:tc>
                <a:tc>
                  <a:txBody>
                    <a:bodyPr/>
                    <a:lstStyle/>
                    <a:p>
                      <a:pPr marL="0" indent="0" algn="ctr">
                        <a:buNone/>
                      </a:pPr>
                      <a:r>
                        <a:rPr lang="en-US" sz="1600" b="1" dirty="0">
                          <a:solidFill>
                            <a:srgbClr val="FFFFFF"/>
                          </a:solidFill>
                          <a:latin typeface="Times New Roman" panose="02020603050405020304" pitchFamily="18" charset="0"/>
                          <a:ea typeface="Times New Roman" pitchFamily="34" charset="-122"/>
                          <a:cs typeface="Times New Roman" panose="02020603050405020304" pitchFamily="18" charset="0"/>
                        </a:rPr>
                        <a:t>Key Strength</a:t>
                      </a:r>
                      <a:endParaRPr lang="en-US" sz="1600" dirty="0">
                        <a:latin typeface="Times New Roman" panose="02020603050405020304" pitchFamily="18" charset="0"/>
                        <a:ea typeface="Times New Roman" charset="0"/>
                        <a:cs typeface="Times New Roman" panose="02020603050405020304" pitchFamily="18" charset="0"/>
                      </a:endParaRPr>
                    </a:p>
                  </a:txBody>
                  <a:tcPr>
                    <a:lnL w="10160" cap="flat" cmpd="sng" algn="ctr">
                      <a:solidFill>
                        <a:srgbClr val="E0E0E0"/>
                      </a:solidFill>
                      <a:prstDash val="solid"/>
                      <a:round/>
                      <a:headEnd type="none" w="med" len="med"/>
                      <a:tailEnd type="none" w="med" len="med"/>
                    </a:lnL>
                    <a:lnR w="10160" cap="flat" cmpd="sng" algn="ctr">
                      <a:solidFill>
                        <a:srgbClr val="E0E0E0"/>
                      </a:solidFill>
                      <a:prstDash val="solid"/>
                      <a:round/>
                      <a:headEnd type="none" w="med" len="med"/>
                      <a:tailEnd type="none" w="med" len="med"/>
                    </a:lnR>
                    <a:lnT w="10160" cap="flat" cmpd="sng" algn="ctr">
                      <a:solidFill>
                        <a:srgbClr val="E0E0E0"/>
                      </a:solidFill>
                      <a:prstDash val="solid"/>
                      <a:round/>
                      <a:headEnd type="none" w="med" len="med"/>
                      <a:tailEnd type="none" w="med" len="med"/>
                    </a:lnT>
                    <a:lnB w="10160" cap="flat" cmpd="sng" algn="ctr">
                      <a:solidFill>
                        <a:srgbClr val="E0E0E0"/>
                      </a:solidFill>
                      <a:prstDash val="solid"/>
                      <a:round/>
                      <a:headEnd type="none" w="med" len="med"/>
                      <a:tailEnd type="none" w="med" len="med"/>
                    </a:lnB>
                    <a:solidFill>
                      <a:srgbClr val="CC0000"/>
                    </a:solidFill>
                  </a:tcPr>
                </a:tc>
                <a:tc>
                  <a:txBody>
                    <a:bodyPr/>
                    <a:lstStyle/>
                    <a:p>
                      <a:pPr marL="0" indent="0" algn="ctr">
                        <a:buNone/>
                      </a:pPr>
                      <a:r>
                        <a:rPr lang="en-US" sz="1600" b="1" dirty="0">
                          <a:solidFill>
                            <a:srgbClr val="FFFFFF"/>
                          </a:solidFill>
                          <a:latin typeface="Times New Roman" panose="02020603050405020304" pitchFamily="18" charset="0"/>
                          <a:ea typeface="Times New Roman" pitchFamily="34" charset="-122"/>
                          <a:cs typeface="Times New Roman" panose="02020603050405020304" pitchFamily="18" charset="0"/>
                        </a:rPr>
                        <a:t>Major Limitation</a:t>
                      </a:r>
                      <a:endParaRPr lang="en-US" sz="1600" dirty="0">
                        <a:latin typeface="Times New Roman" panose="02020603050405020304" pitchFamily="18" charset="0"/>
                        <a:ea typeface="Times New Roman" charset="0"/>
                        <a:cs typeface="Times New Roman" panose="02020603050405020304" pitchFamily="18" charset="0"/>
                      </a:endParaRPr>
                    </a:p>
                  </a:txBody>
                  <a:tcPr>
                    <a:lnL w="10160" cap="flat" cmpd="sng" algn="ctr">
                      <a:solidFill>
                        <a:srgbClr val="E0E0E0"/>
                      </a:solidFill>
                      <a:prstDash val="solid"/>
                      <a:round/>
                      <a:headEnd type="none" w="med" len="med"/>
                      <a:tailEnd type="none" w="med" len="med"/>
                    </a:lnL>
                    <a:lnR w="10160" cap="flat" cmpd="sng" algn="ctr">
                      <a:solidFill>
                        <a:srgbClr val="E0E0E0"/>
                      </a:solidFill>
                      <a:prstDash val="solid"/>
                      <a:round/>
                      <a:headEnd type="none" w="med" len="med"/>
                      <a:tailEnd type="none" w="med" len="med"/>
                    </a:lnR>
                    <a:lnT w="10160" cap="flat" cmpd="sng" algn="ctr">
                      <a:solidFill>
                        <a:srgbClr val="E0E0E0"/>
                      </a:solidFill>
                      <a:prstDash val="solid"/>
                      <a:round/>
                      <a:headEnd type="none" w="med" len="med"/>
                      <a:tailEnd type="none" w="med" len="med"/>
                    </a:lnT>
                    <a:lnB w="10160" cap="flat" cmpd="sng" algn="ctr">
                      <a:solidFill>
                        <a:srgbClr val="E0E0E0"/>
                      </a:solidFill>
                      <a:prstDash val="solid"/>
                      <a:round/>
                      <a:headEnd type="none" w="med" len="med"/>
                      <a:tailEnd type="none" w="med" len="med"/>
                    </a:lnB>
                    <a:solidFill>
                      <a:srgbClr val="CC0000"/>
                    </a:solidFill>
                  </a:tcPr>
                </a:tc>
                <a:extLst>
                  <a:ext uri="{0D108BD9-81ED-4DB2-BD59-A6C34878D82A}">
                    <a16:rowId xmlns:a16="http://schemas.microsoft.com/office/drawing/2014/main" val="10000"/>
                  </a:ext>
                </a:extLst>
              </a:tr>
              <a:tr h="584462">
                <a:tc>
                  <a:txBody>
                    <a:bodyPr/>
                    <a:lstStyle/>
                    <a:p>
                      <a:pPr marL="0" indent="0" algn="ctr">
                        <a:buNone/>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Handcrafted Features</a:t>
                      </a:r>
                      <a:endParaRPr lang="en-US" sz="1600" dirty="0">
                        <a:latin typeface="Times New Roman" panose="02020603050405020304" pitchFamily="18" charset="0"/>
                        <a:ea typeface="Times New Roman" charset="0"/>
                        <a:cs typeface="Times New Roman" panose="02020603050405020304" pitchFamily="18" charset="0"/>
                      </a:endParaRPr>
                    </a:p>
                  </a:txBody>
                  <a:tcPr>
                    <a:lnL w="10160" cap="flat" cmpd="sng" algn="ctr">
                      <a:solidFill>
                        <a:srgbClr val="E0E0E0"/>
                      </a:solidFill>
                      <a:prstDash val="solid"/>
                      <a:round/>
                      <a:headEnd type="none" w="med" len="med"/>
                      <a:tailEnd type="none" w="med" len="med"/>
                    </a:lnL>
                    <a:lnR w="10160" cap="flat" cmpd="sng" algn="ctr">
                      <a:solidFill>
                        <a:srgbClr val="E0E0E0"/>
                      </a:solidFill>
                      <a:prstDash val="solid"/>
                      <a:round/>
                      <a:headEnd type="none" w="med" len="med"/>
                      <a:tailEnd type="none" w="med" len="med"/>
                    </a:lnR>
                    <a:lnT w="10160" cap="flat" cmpd="sng" algn="ctr">
                      <a:solidFill>
                        <a:srgbClr val="E0E0E0"/>
                      </a:solidFill>
                      <a:prstDash val="solid"/>
                      <a:round/>
                      <a:headEnd type="none" w="med" len="med"/>
                      <a:tailEnd type="none" w="med" len="med"/>
                    </a:lnT>
                    <a:lnB w="1016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Simple &amp; interpretable</a:t>
                      </a:r>
                      <a:endParaRPr lang="en-US" sz="1600" dirty="0">
                        <a:latin typeface="Times New Roman" panose="02020603050405020304" pitchFamily="18" charset="0"/>
                        <a:ea typeface="Times New Roman" charset="0"/>
                        <a:cs typeface="Times New Roman" panose="02020603050405020304" pitchFamily="18" charset="0"/>
                      </a:endParaRPr>
                    </a:p>
                  </a:txBody>
                  <a:tcPr>
                    <a:lnL w="10160" cap="flat" cmpd="sng" algn="ctr">
                      <a:solidFill>
                        <a:srgbClr val="E0E0E0"/>
                      </a:solidFill>
                      <a:prstDash val="solid"/>
                      <a:round/>
                      <a:headEnd type="none" w="med" len="med"/>
                      <a:tailEnd type="none" w="med" len="med"/>
                    </a:lnL>
                    <a:lnR w="10160" cap="flat" cmpd="sng" algn="ctr">
                      <a:solidFill>
                        <a:srgbClr val="E0E0E0"/>
                      </a:solidFill>
                      <a:prstDash val="solid"/>
                      <a:round/>
                      <a:headEnd type="none" w="med" len="med"/>
                      <a:tailEnd type="none" w="med" len="med"/>
                    </a:lnR>
                    <a:lnT w="10160" cap="flat" cmpd="sng" algn="ctr">
                      <a:solidFill>
                        <a:srgbClr val="E0E0E0"/>
                      </a:solidFill>
                      <a:prstDash val="solid"/>
                      <a:round/>
                      <a:headEnd type="none" w="med" len="med"/>
                      <a:tailEnd type="none" w="med" len="med"/>
                    </a:lnT>
                    <a:lnB w="1016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Fail on advanced deepfakes</a:t>
                      </a:r>
                      <a:endParaRPr lang="en-US" sz="1600" dirty="0">
                        <a:latin typeface="Times New Roman" panose="02020603050405020304" pitchFamily="18" charset="0"/>
                        <a:ea typeface="Times New Roman" charset="0"/>
                        <a:cs typeface="Times New Roman" panose="02020603050405020304" pitchFamily="18" charset="0"/>
                      </a:endParaRPr>
                    </a:p>
                  </a:txBody>
                  <a:tcPr>
                    <a:lnL w="10160" cap="flat" cmpd="sng" algn="ctr">
                      <a:solidFill>
                        <a:srgbClr val="E0E0E0"/>
                      </a:solidFill>
                      <a:prstDash val="solid"/>
                      <a:round/>
                      <a:headEnd type="none" w="med" len="med"/>
                      <a:tailEnd type="none" w="med" len="med"/>
                    </a:lnL>
                    <a:lnR w="10160" cap="flat" cmpd="sng" algn="ctr">
                      <a:solidFill>
                        <a:srgbClr val="E0E0E0"/>
                      </a:solidFill>
                      <a:prstDash val="solid"/>
                      <a:round/>
                      <a:headEnd type="none" w="med" len="med"/>
                      <a:tailEnd type="none" w="med" len="med"/>
                    </a:lnR>
                    <a:lnT w="10160" cap="flat" cmpd="sng" algn="ctr">
                      <a:solidFill>
                        <a:srgbClr val="E0E0E0"/>
                      </a:solidFill>
                      <a:prstDash val="solid"/>
                      <a:round/>
                      <a:headEnd type="none" w="med" len="med"/>
                      <a:tailEnd type="none" w="med" len="med"/>
                    </a:lnT>
                    <a:lnB w="1016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8433">
                <a:tc>
                  <a:txBody>
                    <a:bodyPr/>
                    <a:lstStyle/>
                    <a:p>
                      <a:pPr marL="0" indent="0" algn="ctr">
                        <a:buNone/>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CNN-Based (XceptionNet, ResNet)</a:t>
                      </a:r>
                      <a:endParaRPr lang="en-US" sz="1600" dirty="0">
                        <a:latin typeface="Times New Roman" panose="02020603050405020304" pitchFamily="18" charset="0"/>
                        <a:ea typeface="Times New Roman" charset="0"/>
                        <a:cs typeface="Times New Roman" panose="02020603050405020304" pitchFamily="18" charset="0"/>
                      </a:endParaRPr>
                    </a:p>
                  </a:txBody>
                  <a:tcPr>
                    <a:lnL w="10160" cap="flat" cmpd="sng" algn="ctr">
                      <a:solidFill>
                        <a:srgbClr val="E0E0E0"/>
                      </a:solidFill>
                      <a:prstDash val="solid"/>
                      <a:round/>
                      <a:headEnd type="none" w="med" len="med"/>
                      <a:tailEnd type="none" w="med" len="med"/>
                    </a:lnL>
                    <a:lnR w="10160" cap="flat" cmpd="sng" algn="ctr">
                      <a:solidFill>
                        <a:srgbClr val="E0E0E0"/>
                      </a:solidFill>
                      <a:prstDash val="solid"/>
                      <a:round/>
                      <a:headEnd type="none" w="med" len="med"/>
                      <a:tailEnd type="none" w="med" len="med"/>
                    </a:lnR>
                    <a:lnT w="10160" cap="flat" cmpd="sng" algn="ctr">
                      <a:solidFill>
                        <a:srgbClr val="E0E0E0"/>
                      </a:solidFill>
                      <a:prstDash val="solid"/>
                      <a:round/>
                      <a:headEnd type="none" w="med" len="med"/>
                      <a:tailEnd type="none" w="med" len="med"/>
                    </a:lnT>
                    <a:lnB w="1016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High accuracy, auto feature extraction</a:t>
                      </a:r>
                      <a:endParaRPr lang="en-US" sz="1600" dirty="0">
                        <a:latin typeface="Times New Roman" panose="02020603050405020304" pitchFamily="18" charset="0"/>
                        <a:ea typeface="Times New Roman" charset="0"/>
                        <a:cs typeface="Times New Roman" panose="02020603050405020304" pitchFamily="18" charset="0"/>
                      </a:endParaRPr>
                    </a:p>
                  </a:txBody>
                  <a:tcPr>
                    <a:lnL w="10160" cap="flat" cmpd="sng" algn="ctr">
                      <a:solidFill>
                        <a:srgbClr val="E0E0E0"/>
                      </a:solidFill>
                      <a:prstDash val="solid"/>
                      <a:round/>
                      <a:headEnd type="none" w="med" len="med"/>
                      <a:tailEnd type="none" w="med" len="med"/>
                    </a:lnL>
                    <a:lnR w="10160" cap="flat" cmpd="sng" algn="ctr">
                      <a:solidFill>
                        <a:srgbClr val="E0E0E0"/>
                      </a:solidFill>
                      <a:prstDash val="solid"/>
                      <a:round/>
                      <a:headEnd type="none" w="med" len="med"/>
                      <a:tailEnd type="none" w="med" len="med"/>
                    </a:lnR>
                    <a:lnT w="10160" cap="flat" cmpd="sng" algn="ctr">
                      <a:solidFill>
                        <a:srgbClr val="E0E0E0"/>
                      </a:solidFill>
                      <a:prstDash val="solid"/>
                      <a:round/>
                      <a:headEnd type="none" w="med" len="med"/>
                      <a:tailEnd type="none" w="med" len="med"/>
                    </a:lnT>
                    <a:lnB w="1016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Loses spatial info via pooling</a:t>
                      </a:r>
                      <a:endParaRPr lang="en-US" sz="1600" dirty="0">
                        <a:latin typeface="Times New Roman" panose="02020603050405020304" pitchFamily="18" charset="0"/>
                        <a:ea typeface="Times New Roman" charset="0"/>
                        <a:cs typeface="Times New Roman" panose="02020603050405020304" pitchFamily="18" charset="0"/>
                      </a:endParaRPr>
                    </a:p>
                  </a:txBody>
                  <a:tcPr>
                    <a:lnL w="10160" cap="flat" cmpd="sng" algn="ctr">
                      <a:solidFill>
                        <a:srgbClr val="E0E0E0"/>
                      </a:solidFill>
                      <a:prstDash val="solid"/>
                      <a:round/>
                      <a:headEnd type="none" w="med" len="med"/>
                      <a:tailEnd type="none" w="med" len="med"/>
                    </a:lnL>
                    <a:lnR w="10160" cap="flat" cmpd="sng" algn="ctr">
                      <a:solidFill>
                        <a:srgbClr val="E0E0E0"/>
                      </a:solidFill>
                      <a:prstDash val="solid"/>
                      <a:round/>
                      <a:headEnd type="none" w="med" len="med"/>
                      <a:tailEnd type="none" w="med" len="med"/>
                    </a:lnR>
                    <a:lnT w="10160" cap="flat" cmpd="sng" algn="ctr">
                      <a:solidFill>
                        <a:srgbClr val="E0E0E0"/>
                      </a:solidFill>
                      <a:prstDash val="solid"/>
                      <a:round/>
                      <a:headEnd type="none" w="med" len="med"/>
                      <a:tailEnd type="none" w="med" len="med"/>
                    </a:lnT>
                    <a:lnB w="1016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38433">
                <a:tc>
                  <a:txBody>
                    <a:bodyPr/>
                    <a:lstStyle/>
                    <a:p>
                      <a:pPr marL="0" indent="0" algn="ctr">
                        <a:buNone/>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Capsule Networks (CapsNets)</a:t>
                      </a:r>
                      <a:endParaRPr lang="en-US" sz="1600" dirty="0">
                        <a:latin typeface="Times New Roman" panose="02020603050405020304" pitchFamily="18" charset="0"/>
                        <a:ea typeface="Times New Roman" charset="0"/>
                        <a:cs typeface="Times New Roman" panose="02020603050405020304" pitchFamily="18" charset="0"/>
                      </a:endParaRPr>
                    </a:p>
                  </a:txBody>
                  <a:tcPr>
                    <a:lnL w="10160" cap="flat" cmpd="sng" algn="ctr">
                      <a:solidFill>
                        <a:srgbClr val="E0E0E0"/>
                      </a:solidFill>
                      <a:prstDash val="solid"/>
                      <a:round/>
                      <a:headEnd type="none" w="med" len="med"/>
                      <a:tailEnd type="none" w="med" len="med"/>
                    </a:lnL>
                    <a:lnR w="10160" cap="flat" cmpd="sng" algn="ctr">
                      <a:solidFill>
                        <a:srgbClr val="E0E0E0"/>
                      </a:solidFill>
                      <a:prstDash val="solid"/>
                      <a:round/>
                      <a:headEnd type="none" w="med" len="med"/>
                      <a:tailEnd type="none" w="med" len="med"/>
                    </a:lnR>
                    <a:lnT w="10160" cap="flat" cmpd="sng" algn="ctr">
                      <a:solidFill>
                        <a:srgbClr val="E0E0E0"/>
                      </a:solidFill>
                      <a:prstDash val="solid"/>
                      <a:round/>
                      <a:headEnd type="none" w="med" len="med"/>
                      <a:tailEnd type="none" w="med" len="med"/>
                    </a:lnT>
                    <a:lnB w="1016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Preserves spatial hierarchies</a:t>
                      </a:r>
                      <a:endParaRPr lang="en-US" sz="1600" dirty="0">
                        <a:latin typeface="Times New Roman" panose="02020603050405020304" pitchFamily="18" charset="0"/>
                        <a:ea typeface="Times New Roman" charset="0"/>
                        <a:cs typeface="Times New Roman" panose="02020603050405020304" pitchFamily="18" charset="0"/>
                      </a:endParaRPr>
                    </a:p>
                  </a:txBody>
                  <a:tcPr>
                    <a:lnL w="10160" cap="flat" cmpd="sng" algn="ctr">
                      <a:solidFill>
                        <a:srgbClr val="E0E0E0"/>
                      </a:solidFill>
                      <a:prstDash val="solid"/>
                      <a:round/>
                      <a:headEnd type="none" w="med" len="med"/>
                      <a:tailEnd type="none" w="med" len="med"/>
                    </a:lnL>
                    <a:lnR w="10160" cap="flat" cmpd="sng" algn="ctr">
                      <a:solidFill>
                        <a:srgbClr val="E0E0E0"/>
                      </a:solidFill>
                      <a:prstDash val="solid"/>
                      <a:round/>
                      <a:headEnd type="none" w="med" len="med"/>
                      <a:tailEnd type="none" w="med" len="med"/>
                    </a:lnR>
                    <a:lnT w="10160" cap="flat" cmpd="sng" algn="ctr">
                      <a:solidFill>
                        <a:srgbClr val="E0E0E0"/>
                      </a:solidFill>
                      <a:prstDash val="solid"/>
                      <a:round/>
                      <a:headEnd type="none" w="med" len="med"/>
                      <a:tailEnd type="none" w="med" len="med"/>
                    </a:lnT>
                    <a:lnB w="1016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Computationally expensive; limited scale</a:t>
                      </a:r>
                      <a:endParaRPr lang="en-US" sz="1600" dirty="0">
                        <a:latin typeface="Times New Roman" panose="02020603050405020304" pitchFamily="18" charset="0"/>
                        <a:ea typeface="Times New Roman" charset="0"/>
                        <a:cs typeface="Times New Roman" panose="02020603050405020304" pitchFamily="18" charset="0"/>
                      </a:endParaRPr>
                    </a:p>
                  </a:txBody>
                  <a:tcPr>
                    <a:lnL w="10160" cap="flat" cmpd="sng" algn="ctr">
                      <a:solidFill>
                        <a:srgbClr val="E0E0E0"/>
                      </a:solidFill>
                      <a:prstDash val="solid"/>
                      <a:round/>
                      <a:headEnd type="none" w="med" len="med"/>
                      <a:tailEnd type="none" w="med" len="med"/>
                    </a:lnL>
                    <a:lnR w="10160" cap="flat" cmpd="sng" algn="ctr">
                      <a:solidFill>
                        <a:srgbClr val="E0E0E0"/>
                      </a:solidFill>
                      <a:prstDash val="solid"/>
                      <a:round/>
                      <a:headEnd type="none" w="med" len="med"/>
                      <a:tailEnd type="none" w="med" len="med"/>
                    </a:lnR>
                    <a:lnT w="10160" cap="flat" cmpd="sng" algn="ctr">
                      <a:solidFill>
                        <a:srgbClr val="E0E0E0"/>
                      </a:solidFill>
                      <a:prstDash val="solid"/>
                      <a:round/>
                      <a:headEnd type="none" w="med" len="med"/>
                      <a:tailEnd type="none" w="med" len="med"/>
                    </a:lnT>
                    <a:lnB w="1016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38433">
                <a:tc>
                  <a:txBody>
                    <a:bodyPr/>
                    <a:lstStyle/>
                    <a:p>
                      <a:pPr marL="0" indent="0" algn="ctr">
                        <a:buNone/>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CNN + LSTM / RNN Hybrid</a:t>
                      </a:r>
                      <a:endParaRPr lang="en-US" sz="1600" dirty="0">
                        <a:latin typeface="Times New Roman" panose="02020603050405020304" pitchFamily="18" charset="0"/>
                        <a:ea typeface="Times New Roman" charset="0"/>
                        <a:cs typeface="Times New Roman" panose="02020603050405020304" pitchFamily="18" charset="0"/>
                      </a:endParaRPr>
                    </a:p>
                  </a:txBody>
                  <a:tcPr>
                    <a:lnL w="10160" cap="flat" cmpd="sng" algn="ctr">
                      <a:solidFill>
                        <a:srgbClr val="E0E0E0"/>
                      </a:solidFill>
                      <a:prstDash val="solid"/>
                      <a:round/>
                      <a:headEnd type="none" w="med" len="med"/>
                      <a:tailEnd type="none" w="med" len="med"/>
                    </a:lnL>
                    <a:lnR w="10160" cap="flat" cmpd="sng" algn="ctr">
                      <a:solidFill>
                        <a:srgbClr val="E0E0E0"/>
                      </a:solidFill>
                      <a:prstDash val="solid"/>
                      <a:round/>
                      <a:headEnd type="none" w="med" len="med"/>
                      <a:tailEnd type="none" w="med" len="med"/>
                    </a:lnR>
                    <a:lnT w="10160" cap="flat" cmpd="sng" algn="ctr">
                      <a:solidFill>
                        <a:srgbClr val="E0E0E0"/>
                      </a:solidFill>
                      <a:prstDash val="solid"/>
                      <a:round/>
                      <a:headEnd type="none" w="med" len="med"/>
                      <a:tailEnd type="none" w="med" len="med"/>
                    </a:lnT>
                    <a:lnB w="1016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Captures spatio-temporal patterns</a:t>
                      </a:r>
                      <a:endParaRPr lang="en-US" sz="1600" dirty="0">
                        <a:latin typeface="Times New Roman" panose="02020603050405020304" pitchFamily="18" charset="0"/>
                        <a:ea typeface="Times New Roman" charset="0"/>
                        <a:cs typeface="Times New Roman" panose="02020603050405020304" pitchFamily="18" charset="0"/>
                      </a:endParaRPr>
                    </a:p>
                  </a:txBody>
                  <a:tcPr>
                    <a:lnL w="10160" cap="flat" cmpd="sng" algn="ctr">
                      <a:solidFill>
                        <a:srgbClr val="E0E0E0"/>
                      </a:solidFill>
                      <a:prstDash val="solid"/>
                      <a:round/>
                      <a:headEnd type="none" w="med" len="med"/>
                      <a:tailEnd type="none" w="med" len="med"/>
                    </a:lnL>
                    <a:lnR w="10160" cap="flat" cmpd="sng" algn="ctr">
                      <a:solidFill>
                        <a:srgbClr val="E0E0E0"/>
                      </a:solidFill>
                      <a:prstDash val="solid"/>
                      <a:round/>
                      <a:headEnd type="none" w="med" len="med"/>
                      <a:tailEnd type="none" w="med" len="med"/>
                    </a:lnR>
                    <a:lnT w="10160" cap="flat" cmpd="sng" algn="ctr">
                      <a:solidFill>
                        <a:srgbClr val="E0E0E0"/>
                      </a:solidFill>
                      <a:prstDash val="solid"/>
                      <a:round/>
                      <a:headEnd type="none" w="med" len="med"/>
                      <a:tailEnd type="none" w="med" len="med"/>
                    </a:lnT>
                    <a:lnB w="1016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Very high compute cost</a:t>
                      </a:r>
                      <a:endParaRPr lang="en-US" sz="1600" dirty="0">
                        <a:latin typeface="Times New Roman" panose="02020603050405020304" pitchFamily="18" charset="0"/>
                        <a:ea typeface="Times New Roman" charset="0"/>
                        <a:cs typeface="Times New Roman" panose="02020603050405020304" pitchFamily="18" charset="0"/>
                      </a:endParaRPr>
                    </a:p>
                  </a:txBody>
                  <a:tcPr>
                    <a:lnL w="10160" cap="flat" cmpd="sng" algn="ctr">
                      <a:solidFill>
                        <a:srgbClr val="E0E0E0"/>
                      </a:solidFill>
                      <a:prstDash val="solid"/>
                      <a:round/>
                      <a:headEnd type="none" w="med" len="med"/>
                      <a:tailEnd type="none" w="med" len="med"/>
                    </a:lnL>
                    <a:lnR w="10160" cap="flat" cmpd="sng" algn="ctr">
                      <a:solidFill>
                        <a:srgbClr val="E0E0E0"/>
                      </a:solidFill>
                      <a:prstDash val="solid"/>
                      <a:round/>
                      <a:headEnd type="none" w="med" len="med"/>
                      <a:tailEnd type="none" w="med" len="med"/>
                    </a:lnR>
                    <a:lnT w="10160" cap="flat" cmpd="sng" algn="ctr">
                      <a:solidFill>
                        <a:srgbClr val="E0E0E0"/>
                      </a:solidFill>
                      <a:prstDash val="solid"/>
                      <a:round/>
                      <a:headEnd type="none" w="med" len="med"/>
                      <a:tailEnd type="none" w="med" len="med"/>
                    </a:lnT>
                    <a:lnB w="1016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38433">
                <a:tc>
                  <a:txBody>
                    <a:bodyPr/>
                    <a:lstStyle/>
                    <a:p>
                      <a:pPr marL="0" indent="0" algn="ctr">
                        <a:buNone/>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Proposed: CNN + CapsNet</a:t>
                      </a:r>
                      <a:endParaRPr lang="en-US" sz="1600" dirty="0">
                        <a:latin typeface="Times New Roman" panose="02020603050405020304" pitchFamily="18" charset="0"/>
                        <a:ea typeface="Times New Roman" charset="0"/>
                        <a:cs typeface="Times New Roman" panose="02020603050405020304" pitchFamily="18" charset="0"/>
                      </a:endParaRPr>
                    </a:p>
                  </a:txBody>
                  <a:tcPr>
                    <a:lnL w="10160" cap="flat" cmpd="sng" algn="ctr">
                      <a:solidFill>
                        <a:srgbClr val="E0E0E0"/>
                      </a:solidFill>
                      <a:prstDash val="solid"/>
                      <a:round/>
                      <a:headEnd type="none" w="med" len="med"/>
                      <a:tailEnd type="none" w="med" len="med"/>
                    </a:lnL>
                    <a:lnR w="10160" cap="flat" cmpd="sng" algn="ctr">
                      <a:solidFill>
                        <a:srgbClr val="E0E0E0"/>
                      </a:solidFill>
                      <a:prstDash val="solid"/>
                      <a:round/>
                      <a:headEnd type="none" w="med" len="med"/>
                      <a:tailEnd type="none" w="med" len="med"/>
                    </a:lnR>
                    <a:lnT w="10160" cap="flat" cmpd="sng" algn="ctr">
                      <a:solidFill>
                        <a:srgbClr val="E0E0E0"/>
                      </a:solidFill>
                      <a:prstDash val="solid"/>
                      <a:round/>
                      <a:headEnd type="none" w="med" len="med"/>
                      <a:tailEnd type="none" w="med" len="med"/>
                    </a:lnT>
                    <a:lnB w="1016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Best of both; 94.3% accuracy</a:t>
                      </a:r>
                      <a:endParaRPr lang="en-US" sz="1600" dirty="0">
                        <a:latin typeface="Times New Roman" panose="02020603050405020304" pitchFamily="18" charset="0"/>
                        <a:ea typeface="Times New Roman" charset="0"/>
                        <a:cs typeface="Times New Roman" panose="02020603050405020304" pitchFamily="18" charset="0"/>
                      </a:endParaRPr>
                    </a:p>
                  </a:txBody>
                  <a:tcPr>
                    <a:lnL w="10160" cap="flat" cmpd="sng" algn="ctr">
                      <a:solidFill>
                        <a:srgbClr val="E0E0E0"/>
                      </a:solidFill>
                      <a:prstDash val="solid"/>
                      <a:round/>
                      <a:headEnd type="none" w="med" len="med"/>
                      <a:tailEnd type="none" w="med" len="med"/>
                    </a:lnL>
                    <a:lnR w="10160" cap="flat" cmpd="sng" algn="ctr">
                      <a:solidFill>
                        <a:srgbClr val="E0E0E0"/>
                      </a:solidFill>
                      <a:prstDash val="solid"/>
                      <a:round/>
                      <a:headEnd type="none" w="med" len="med"/>
                      <a:tailEnd type="none" w="med" len="med"/>
                    </a:lnR>
                    <a:lnT w="10160" cap="flat" cmpd="sng" algn="ctr">
                      <a:solidFill>
                        <a:srgbClr val="E0E0E0"/>
                      </a:solidFill>
                      <a:prstDash val="solid"/>
                      <a:round/>
                      <a:headEnd type="none" w="med" len="med"/>
                      <a:tailEnd type="none" w="med" len="med"/>
                    </a:lnT>
                    <a:lnB w="1016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Needs optimization for real-time</a:t>
                      </a:r>
                      <a:endParaRPr lang="en-US" sz="1600" dirty="0">
                        <a:latin typeface="Times New Roman" panose="02020603050405020304" pitchFamily="18" charset="0"/>
                        <a:ea typeface="Times New Roman" charset="0"/>
                        <a:cs typeface="Times New Roman" panose="02020603050405020304" pitchFamily="18" charset="0"/>
                      </a:endParaRPr>
                    </a:p>
                  </a:txBody>
                  <a:tcPr>
                    <a:lnL w="10160" cap="flat" cmpd="sng" algn="ctr">
                      <a:solidFill>
                        <a:srgbClr val="E0E0E0"/>
                      </a:solidFill>
                      <a:prstDash val="solid"/>
                      <a:round/>
                      <a:headEnd type="none" w="med" len="med"/>
                      <a:tailEnd type="none" w="med" len="med"/>
                    </a:lnL>
                    <a:lnR w="10160" cap="flat" cmpd="sng" algn="ctr">
                      <a:solidFill>
                        <a:srgbClr val="E0E0E0"/>
                      </a:solidFill>
                      <a:prstDash val="solid"/>
                      <a:round/>
                      <a:headEnd type="none" w="med" len="med"/>
                      <a:tailEnd type="none" w="med" len="med"/>
                    </a:lnR>
                    <a:lnT w="10160" cap="flat" cmpd="sng" algn="ctr">
                      <a:solidFill>
                        <a:srgbClr val="E0E0E0"/>
                      </a:solidFill>
                      <a:prstDash val="solid"/>
                      <a:round/>
                      <a:headEnd type="none" w="med" len="med"/>
                      <a:tailEnd type="none" w="med" len="med"/>
                    </a:lnT>
                    <a:lnB w="1016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6200702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D4747-8CDF-3554-2ECC-7E0BF964EA8A}"/>
              </a:ext>
            </a:extLst>
          </p:cNvPr>
          <p:cNvSpPr>
            <a:spLocks noGrp="1"/>
          </p:cNvSpPr>
          <p:nvPr>
            <p:ph type="title"/>
          </p:nvPr>
        </p:nvSpPr>
        <p:spPr>
          <a:xfrm>
            <a:off x="457200" y="0"/>
            <a:ext cx="5486040" cy="914040"/>
          </a:xfrm>
        </p:spPr>
        <p:txBody>
          <a:bodyPr/>
          <a:lstStyle/>
          <a:p>
            <a:pPr algn="ctr"/>
            <a:r>
              <a:rPr lang="en-IN" sz="3200" b="1" dirty="0">
                <a:latin typeface="Times New Roman" panose="02020603050405020304" pitchFamily="18" charset="0"/>
                <a:cs typeface="Times New Roman" panose="02020603050405020304" pitchFamily="18" charset="0"/>
              </a:rPr>
              <a:t>Proposed Methodology</a:t>
            </a:r>
          </a:p>
        </p:txBody>
      </p:sp>
      <p:sp>
        <p:nvSpPr>
          <p:cNvPr id="6" name="Shape 5">
            <a:extLst>
              <a:ext uri="{FF2B5EF4-FFF2-40B4-BE49-F238E27FC236}">
                <a16:creationId xmlns:a16="http://schemas.microsoft.com/office/drawing/2014/main" id="{B5C76C81-570F-B8C3-C9FF-DECCB04D8B7C}"/>
              </a:ext>
            </a:extLst>
          </p:cNvPr>
          <p:cNvSpPr/>
          <p:nvPr/>
        </p:nvSpPr>
        <p:spPr>
          <a:xfrm>
            <a:off x="320511" y="1245870"/>
            <a:ext cx="527901" cy="752612"/>
          </a:xfrm>
          <a:prstGeom prst="rect">
            <a:avLst/>
          </a:prstGeom>
          <a:solidFill>
            <a:srgbClr val="CC0000"/>
          </a:solidFill>
          <a:ln w="12700">
            <a:solidFill>
              <a:srgbClr val="CC0000"/>
            </a:solidFill>
            <a:prstDash val="solid"/>
          </a:ln>
        </p:spPr>
        <p:txBody>
          <a:bodyPr/>
          <a:lstStyle/>
          <a:p>
            <a:pPr algn="ctr">
              <a:lnSpc>
                <a:spcPct val="200000"/>
              </a:lnSpc>
            </a:pPr>
            <a:r>
              <a:rPr lang="en-IN" b="1" dirty="0">
                <a:solidFill>
                  <a:schemeClr val="bg1"/>
                </a:solidFill>
                <a:latin typeface="Times New Roman" panose="02020603050405020304" pitchFamily="18" charset="0"/>
                <a:cs typeface="Times New Roman" panose="02020603050405020304" pitchFamily="18" charset="0"/>
              </a:rPr>
              <a:t>1</a:t>
            </a:r>
          </a:p>
        </p:txBody>
      </p:sp>
      <p:sp>
        <p:nvSpPr>
          <p:cNvPr id="7" name="Shape 7">
            <a:extLst>
              <a:ext uri="{FF2B5EF4-FFF2-40B4-BE49-F238E27FC236}">
                <a16:creationId xmlns:a16="http://schemas.microsoft.com/office/drawing/2014/main" id="{4DF84015-F0AD-87AB-63E7-D39A66990C82}"/>
              </a:ext>
            </a:extLst>
          </p:cNvPr>
          <p:cNvSpPr/>
          <p:nvPr/>
        </p:nvSpPr>
        <p:spPr>
          <a:xfrm>
            <a:off x="1010412" y="1245870"/>
            <a:ext cx="7676388" cy="752612"/>
          </a:xfrm>
          <a:prstGeom prst="rect">
            <a:avLst/>
          </a:prstGeom>
          <a:solidFill>
            <a:srgbClr val="F5F5F5"/>
          </a:solidFill>
          <a:ln w="12700">
            <a:solidFill>
              <a:srgbClr val="E0E0E0"/>
            </a:solidFill>
            <a:prstDash val="solid"/>
          </a:ln>
        </p:spPr>
      </p:sp>
      <p:sp>
        <p:nvSpPr>
          <p:cNvPr id="8" name="Text 9">
            <a:extLst>
              <a:ext uri="{FF2B5EF4-FFF2-40B4-BE49-F238E27FC236}">
                <a16:creationId xmlns:a16="http://schemas.microsoft.com/office/drawing/2014/main" id="{180EAA59-D288-1AE2-40BE-9941AA36983E}"/>
              </a:ext>
            </a:extLst>
          </p:cNvPr>
          <p:cNvSpPr/>
          <p:nvPr/>
        </p:nvSpPr>
        <p:spPr>
          <a:xfrm>
            <a:off x="1078992" y="1543050"/>
            <a:ext cx="7863840" cy="292608"/>
          </a:xfrm>
          <a:prstGeom prst="rect">
            <a:avLst/>
          </a:prstGeom>
          <a:noFill/>
          <a:ln/>
        </p:spPr>
        <p:txBody>
          <a:bodyPr wrap="square" rtlCol="0" anchor="ct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FaceForensics++ and Celeb-DF datasets containing both real and manipulated videos</a:t>
            </a:r>
            <a:endParaRPr lang="en-US" sz="1400" dirty="0"/>
          </a:p>
        </p:txBody>
      </p:sp>
      <p:sp>
        <p:nvSpPr>
          <p:cNvPr id="9" name="Text 8">
            <a:extLst>
              <a:ext uri="{FF2B5EF4-FFF2-40B4-BE49-F238E27FC236}">
                <a16:creationId xmlns:a16="http://schemas.microsoft.com/office/drawing/2014/main" id="{2C81F526-5CB4-2B50-BD85-54837652C334}"/>
              </a:ext>
            </a:extLst>
          </p:cNvPr>
          <p:cNvSpPr/>
          <p:nvPr/>
        </p:nvSpPr>
        <p:spPr>
          <a:xfrm>
            <a:off x="1078992" y="1291590"/>
            <a:ext cx="7863840" cy="246888"/>
          </a:xfrm>
          <a:prstGeom prst="rect">
            <a:avLst/>
          </a:prstGeom>
          <a:noFill/>
          <a:ln/>
        </p:spPr>
        <p:txBody>
          <a:bodyPr wrap="square" rtlCol="0" anchor="ctr"/>
          <a:lstStyle/>
          <a:p>
            <a:pPr marL="0" indent="0">
              <a:buNone/>
            </a:pPr>
            <a:r>
              <a:rPr lang="en-US" sz="1600" b="1" dirty="0">
                <a:solidFill>
                  <a:srgbClr val="B22222"/>
                </a:solidFill>
                <a:latin typeface="Times New Roman" pitchFamily="34" charset="0"/>
                <a:ea typeface="Times New Roman" pitchFamily="34" charset="-122"/>
                <a:cs typeface="Times New Roman" pitchFamily="34" charset="-120"/>
              </a:rPr>
              <a:t>Data Collection</a:t>
            </a:r>
            <a:endParaRPr lang="en-US" sz="1600" dirty="0"/>
          </a:p>
        </p:txBody>
      </p:sp>
      <p:sp>
        <p:nvSpPr>
          <p:cNvPr id="11" name="Shape 13">
            <a:extLst>
              <a:ext uri="{FF2B5EF4-FFF2-40B4-BE49-F238E27FC236}">
                <a16:creationId xmlns:a16="http://schemas.microsoft.com/office/drawing/2014/main" id="{4763AA28-BC07-C68E-EF89-A832F8DD934C}"/>
              </a:ext>
            </a:extLst>
          </p:cNvPr>
          <p:cNvSpPr/>
          <p:nvPr/>
        </p:nvSpPr>
        <p:spPr>
          <a:xfrm>
            <a:off x="1010412" y="2286860"/>
            <a:ext cx="7676388" cy="851657"/>
          </a:xfrm>
          <a:prstGeom prst="rect">
            <a:avLst/>
          </a:prstGeom>
          <a:solidFill>
            <a:srgbClr val="FFF0F0"/>
          </a:solidFill>
          <a:ln w="12700">
            <a:solidFill>
              <a:srgbClr val="E0E0E0"/>
            </a:solidFill>
            <a:prstDash val="solid"/>
          </a:ln>
        </p:spPr>
      </p:sp>
      <p:sp>
        <p:nvSpPr>
          <p:cNvPr id="12" name="Text 14">
            <a:extLst>
              <a:ext uri="{FF2B5EF4-FFF2-40B4-BE49-F238E27FC236}">
                <a16:creationId xmlns:a16="http://schemas.microsoft.com/office/drawing/2014/main" id="{EDF16211-C879-9B1C-B218-00AE754A2D18}"/>
              </a:ext>
            </a:extLst>
          </p:cNvPr>
          <p:cNvSpPr/>
          <p:nvPr/>
        </p:nvSpPr>
        <p:spPr>
          <a:xfrm>
            <a:off x="1078992" y="2304649"/>
            <a:ext cx="7863840" cy="246888"/>
          </a:xfrm>
          <a:prstGeom prst="rect">
            <a:avLst/>
          </a:prstGeom>
          <a:noFill/>
          <a:ln/>
        </p:spPr>
        <p:txBody>
          <a:bodyPr wrap="square" rtlCol="0" anchor="ctr"/>
          <a:lstStyle/>
          <a:p>
            <a:pPr marL="0" indent="0">
              <a:buNone/>
            </a:pPr>
            <a:r>
              <a:rPr lang="en-US" sz="1600" b="1" dirty="0">
                <a:solidFill>
                  <a:srgbClr val="B22222"/>
                </a:solidFill>
                <a:latin typeface="Times New Roman" pitchFamily="34" charset="0"/>
                <a:ea typeface="Times New Roman" pitchFamily="34" charset="-122"/>
                <a:cs typeface="Times New Roman" pitchFamily="34" charset="-120"/>
              </a:rPr>
              <a:t>Preprocessing</a:t>
            </a:r>
            <a:endParaRPr lang="en-US" sz="1600" dirty="0"/>
          </a:p>
        </p:txBody>
      </p:sp>
      <p:sp>
        <p:nvSpPr>
          <p:cNvPr id="13" name="Text 15">
            <a:extLst>
              <a:ext uri="{FF2B5EF4-FFF2-40B4-BE49-F238E27FC236}">
                <a16:creationId xmlns:a16="http://schemas.microsoft.com/office/drawing/2014/main" id="{3DF680EF-0CEF-1016-7685-970B673D00AF}"/>
              </a:ext>
            </a:extLst>
          </p:cNvPr>
          <p:cNvSpPr/>
          <p:nvPr/>
        </p:nvSpPr>
        <p:spPr>
          <a:xfrm>
            <a:off x="1078992" y="2669265"/>
            <a:ext cx="7863840" cy="292608"/>
          </a:xfrm>
          <a:prstGeom prst="rect">
            <a:avLst/>
          </a:prstGeom>
          <a:noFill/>
          <a:ln/>
        </p:spPr>
        <p:txBody>
          <a:bodyPr wrap="square" rtlCol="0" anchor="ct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Frame sampling → Face detection &amp; extraction → Resize to uniform resolution → Normalization + Augmentation (flips, rotation, brightness)</a:t>
            </a:r>
            <a:endParaRPr lang="en-US" sz="1400" dirty="0"/>
          </a:p>
        </p:txBody>
      </p:sp>
      <p:sp>
        <p:nvSpPr>
          <p:cNvPr id="14" name="Shape 19">
            <a:extLst>
              <a:ext uri="{FF2B5EF4-FFF2-40B4-BE49-F238E27FC236}">
                <a16:creationId xmlns:a16="http://schemas.microsoft.com/office/drawing/2014/main" id="{04652AEF-E781-D43C-A3C1-611A80363504}"/>
              </a:ext>
            </a:extLst>
          </p:cNvPr>
          <p:cNvSpPr/>
          <p:nvPr/>
        </p:nvSpPr>
        <p:spPr>
          <a:xfrm>
            <a:off x="1010412" y="3412752"/>
            <a:ext cx="7676388" cy="851656"/>
          </a:xfrm>
          <a:prstGeom prst="rect">
            <a:avLst/>
          </a:prstGeom>
          <a:solidFill>
            <a:srgbClr val="F5F5F5"/>
          </a:solidFill>
          <a:ln w="12700">
            <a:solidFill>
              <a:srgbClr val="E0E0E0"/>
            </a:solidFill>
            <a:prstDash val="solid"/>
          </a:ln>
        </p:spPr>
      </p:sp>
      <p:sp>
        <p:nvSpPr>
          <p:cNvPr id="15" name="Text 20">
            <a:extLst>
              <a:ext uri="{FF2B5EF4-FFF2-40B4-BE49-F238E27FC236}">
                <a16:creationId xmlns:a16="http://schemas.microsoft.com/office/drawing/2014/main" id="{27B6F281-8781-ADAE-4B06-FE1D3135E9D9}"/>
              </a:ext>
            </a:extLst>
          </p:cNvPr>
          <p:cNvSpPr/>
          <p:nvPr/>
        </p:nvSpPr>
        <p:spPr>
          <a:xfrm>
            <a:off x="1010412" y="3463826"/>
            <a:ext cx="7863840" cy="246888"/>
          </a:xfrm>
          <a:prstGeom prst="rect">
            <a:avLst/>
          </a:prstGeom>
          <a:noFill/>
          <a:ln/>
        </p:spPr>
        <p:txBody>
          <a:bodyPr wrap="square" rtlCol="0" anchor="ctr"/>
          <a:lstStyle/>
          <a:p>
            <a:pPr marL="0" indent="0">
              <a:buNone/>
            </a:pPr>
            <a:r>
              <a:rPr lang="en-US" sz="1600" b="1" dirty="0">
                <a:solidFill>
                  <a:srgbClr val="B22222"/>
                </a:solidFill>
                <a:latin typeface="Times New Roman" pitchFamily="34" charset="0"/>
                <a:ea typeface="Times New Roman" pitchFamily="34" charset="-122"/>
                <a:cs typeface="Times New Roman" pitchFamily="34" charset="-120"/>
              </a:rPr>
              <a:t>CNN Feature Extraction</a:t>
            </a:r>
            <a:endParaRPr lang="en-US" sz="1600" dirty="0"/>
          </a:p>
        </p:txBody>
      </p:sp>
      <p:sp>
        <p:nvSpPr>
          <p:cNvPr id="16" name="Text 21">
            <a:extLst>
              <a:ext uri="{FF2B5EF4-FFF2-40B4-BE49-F238E27FC236}">
                <a16:creationId xmlns:a16="http://schemas.microsoft.com/office/drawing/2014/main" id="{6BDA82A0-5BB1-B12B-509C-B641AAFF249A}"/>
              </a:ext>
            </a:extLst>
          </p:cNvPr>
          <p:cNvSpPr/>
          <p:nvPr/>
        </p:nvSpPr>
        <p:spPr>
          <a:xfrm>
            <a:off x="1010412" y="3847831"/>
            <a:ext cx="7863840" cy="292608"/>
          </a:xfrm>
          <a:prstGeom prst="rect">
            <a:avLst/>
          </a:prstGeom>
          <a:noFill/>
          <a:ln/>
        </p:spPr>
        <p:txBody>
          <a:bodyPr wrap="square" rtlCol="0" anchor="ct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Convolutional layers extract low-level (edges, textures) and high-level (artifacts) feature maps from facial regions</a:t>
            </a:r>
            <a:endParaRPr lang="en-US" sz="1400" dirty="0"/>
          </a:p>
        </p:txBody>
      </p:sp>
      <p:sp>
        <p:nvSpPr>
          <p:cNvPr id="17" name="Shape 25">
            <a:extLst>
              <a:ext uri="{FF2B5EF4-FFF2-40B4-BE49-F238E27FC236}">
                <a16:creationId xmlns:a16="http://schemas.microsoft.com/office/drawing/2014/main" id="{733DFA6A-715B-8846-E1E2-0F892699E0AD}"/>
              </a:ext>
            </a:extLst>
          </p:cNvPr>
          <p:cNvSpPr/>
          <p:nvPr/>
        </p:nvSpPr>
        <p:spPr>
          <a:xfrm>
            <a:off x="1010412" y="4538643"/>
            <a:ext cx="7676388" cy="851656"/>
          </a:xfrm>
          <a:prstGeom prst="rect">
            <a:avLst/>
          </a:prstGeom>
          <a:solidFill>
            <a:srgbClr val="FFF0F0"/>
          </a:solidFill>
          <a:ln w="12700">
            <a:solidFill>
              <a:srgbClr val="E0E0E0"/>
            </a:solidFill>
            <a:prstDash val="solid"/>
          </a:ln>
        </p:spPr>
      </p:sp>
      <p:sp>
        <p:nvSpPr>
          <p:cNvPr id="18" name="Text 26">
            <a:extLst>
              <a:ext uri="{FF2B5EF4-FFF2-40B4-BE49-F238E27FC236}">
                <a16:creationId xmlns:a16="http://schemas.microsoft.com/office/drawing/2014/main" id="{6FB5FB51-7298-939C-F0A5-D251858D0164}"/>
              </a:ext>
            </a:extLst>
          </p:cNvPr>
          <p:cNvSpPr/>
          <p:nvPr/>
        </p:nvSpPr>
        <p:spPr>
          <a:xfrm>
            <a:off x="1078992" y="4650334"/>
            <a:ext cx="7863840" cy="246888"/>
          </a:xfrm>
          <a:prstGeom prst="rect">
            <a:avLst/>
          </a:prstGeom>
          <a:noFill/>
          <a:ln/>
        </p:spPr>
        <p:txBody>
          <a:bodyPr wrap="square" rtlCol="0" anchor="ctr"/>
          <a:lstStyle/>
          <a:p>
            <a:pPr marL="0" indent="0">
              <a:buNone/>
            </a:pPr>
            <a:r>
              <a:rPr lang="en-US" sz="1600" b="1" dirty="0">
                <a:solidFill>
                  <a:srgbClr val="B22222"/>
                </a:solidFill>
                <a:latin typeface="Times New Roman" pitchFamily="34" charset="0"/>
                <a:ea typeface="Times New Roman" pitchFamily="34" charset="-122"/>
                <a:cs typeface="Times New Roman" pitchFamily="34" charset="-120"/>
              </a:rPr>
              <a:t>Capsule Network Encoding</a:t>
            </a:r>
            <a:endParaRPr lang="en-US" sz="1600" dirty="0"/>
          </a:p>
        </p:txBody>
      </p:sp>
      <p:sp>
        <p:nvSpPr>
          <p:cNvPr id="19" name="Text 27">
            <a:extLst>
              <a:ext uri="{FF2B5EF4-FFF2-40B4-BE49-F238E27FC236}">
                <a16:creationId xmlns:a16="http://schemas.microsoft.com/office/drawing/2014/main" id="{2883744F-A346-0330-C557-B38C2C2536B0}"/>
              </a:ext>
            </a:extLst>
          </p:cNvPr>
          <p:cNvSpPr/>
          <p:nvPr/>
        </p:nvSpPr>
        <p:spPr>
          <a:xfrm>
            <a:off x="1078992" y="4990540"/>
            <a:ext cx="7863840" cy="292608"/>
          </a:xfrm>
          <a:prstGeom prst="rect">
            <a:avLst/>
          </a:prstGeom>
          <a:noFill/>
          <a:ln/>
        </p:spPr>
        <p:txBody>
          <a:bodyPr wrap="square" rtlCol="0" anchor="ct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Primary capsules convert feature maps to vector form → Dynamic routing preserves spatial relationships between facial components</a:t>
            </a:r>
            <a:endParaRPr lang="en-US" sz="1400" dirty="0"/>
          </a:p>
        </p:txBody>
      </p:sp>
      <p:sp>
        <p:nvSpPr>
          <p:cNvPr id="20" name="Shape 31">
            <a:extLst>
              <a:ext uri="{FF2B5EF4-FFF2-40B4-BE49-F238E27FC236}">
                <a16:creationId xmlns:a16="http://schemas.microsoft.com/office/drawing/2014/main" id="{1C6E6831-3F4A-3167-5DC7-85CE80296E7B}"/>
              </a:ext>
            </a:extLst>
          </p:cNvPr>
          <p:cNvSpPr/>
          <p:nvPr/>
        </p:nvSpPr>
        <p:spPr>
          <a:xfrm>
            <a:off x="1010412" y="5654005"/>
            <a:ext cx="7676388" cy="784501"/>
          </a:xfrm>
          <a:prstGeom prst="rect">
            <a:avLst/>
          </a:prstGeom>
          <a:solidFill>
            <a:srgbClr val="F5F5F5"/>
          </a:solidFill>
          <a:ln w="12700">
            <a:solidFill>
              <a:srgbClr val="E0E0E0"/>
            </a:solidFill>
            <a:prstDash val="solid"/>
          </a:ln>
        </p:spPr>
      </p:sp>
      <p:sp>
        <p:nvSpPr>
          <p:cNvPr id="21" name="Text 33">
            <a:extLst>
              <a:ext uri="{FF2B5EF4-FFF2-40B4-BE49-F238E27FC236}">
                <a16:creationId xmlns:a16="http://schemas.microsoft.com/office/drawing/2014/main" id="{6BF170D7-1C3F-4E35-AFB7-084FA37C99AD}"/>
              </a:ext>
            </a:extLst>
          </p:cNvPr>
          <p:cNvSpPr/>
          <p:nvPr/>
        </p:nvSpPr>
        <p:spPr>
          <a:xfrm>
            <a:off x="1078992" y="6046255"/>
            <a:ext cx="7863840" cy="292608"/>
          </a:xfrm>
          <a:prstGeom prst="rect">
            <a:avLst/>
          </a:prstGeom>
          <a:noFill/>
          <a:ln/>
        </p:spPr>
        <p:txBody>
          <a:bodyPr wrap="square" rtlCol="0" anchor="ct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Fully connected output layer → Binary classification (Real / Fake) → Metrics: Accuracy, Precision, Recall, F1-Score</a:t>
            </a:r>
            <a:endParaRPr lang="en-US" sz="1400" dirty="0"/>
          </a:p>
        </p:txBody>
      </p:sp>
      <p:sp>
        <p:nvSpPr>
          <p:cNvPr id="23" name="Text 32">
            <a:extLst>
              <a:ext uri="{FF2B5EF4-FFF2-40B4-BE49-F238E27FC236}">
                <a16:creationId xmlns:a16="http://schemas.microsoft.com/office/drawing/2014/main" id="{D11B0A46-645C-BF65-A381-3C78DED462FC}"/>
              </a:ext>
            </a:extLst>
          </p:cNvPr>
          <p:cNvSpPr/>
          <p:nvPr/>
        </p:nvSpPr>
        <p:spPr>
          <a:xfrm>
            <a:off x="1078992" y="5705755"/>
            <a:ext cx="7863840" cy="246888"/>
          </a:xfrm>
          <a:prstGeom prst="rect">
            <a:avLst/>
          </a:prstGeom>
          <a:noFill/>
          <a:ln/>
        </p:spPr>
        <p:txBody>
          <a:bodyPr wrap="square" rtlCol="0" anchor="ctr"/>
          <a:lstStyle/>
          <a:p>
            <a:pPr marL="0" indent="0">
              <a:buNone/>
            </a:pPr>
            <a:r>
              <a:rPr lang="en-US" sz="1600" b="1" dirty="0">
                <a:solidFill>
                  <a:srgbClr val="B22222"/>
                </a:solidFill>
                <a:latin typeface="Times New Roman" pitchFamily="34" charset="0"/>
                <a:ea typeface="Times New Roman" pitchFamily="34" charset="-122"/>
                <a:cs typeface="Times New Roman" pitchFamily="34" charset="-120"/>
              </a:rPr>
              <a:t>Classification &amp; Evaluation</a:t>
            </a:r>
            <a:endParaRPr lang="en-US" sz="1600" dirty="0"/>
          </a:p>
        </p:txBody>
      </p:sp>
      <p:sp>
        <p:nvSpPr>
          <p:cNvPr id="24" name="Shape 5">
            <a:extLst>
              <a:ext uri="{FF2B5EF4-FFF2-40B4-BE49-F238E27FC236}">
                <a16:creationId xmlns:a16="http://schemas.microsoft.com/office/drawing/2014/main" id="{7DFD0F0D-1434-36B1-DDAD-B13C9F956638}"/>
              </a:ext>
            </a:extLst>
          </p:cNvPr>
          <p:cNvSpPr/>
          <p:nvPr/>
        </p:nvSpPr>
        <p:spPr>
          <a:xfrm>
            <a:off x="320511" y="2286859"/>
            <a:ext cx="527901" cy="851657"/>
          </a:xfrm>
          <a:prstGeom prst="rect">
            <a:avLst/>
          </a:prstGeom>
          <a:solidFill>
            <a:srgbClr val="CC0000"/>
          </a:solidFill>
          <a:ln w="12700">
            <a:solidFill>
              <a:srgbClr val="CC0000"/>
            </a:solidFill>
            <a:prstDash val="solid"/>
          </a:ln>
        </p:spPr>
        <p:txBody>
          <a:bodyPr/>
          <a:lstStyle/>
          <a:p>
            <a:pPr algn="ctr">
              <a:lnSpc>
                <a:spcPct val="200000"/>
              </a:lnSpc>
            </a:pPr>
            <a:r>
              <a:rPr lang="en-IN" b="1" dirty="0">
                <a:solidFill>
                  <a:schemeClr val="bg1"/>
                </a:solidFill>
              </a:rPr>
              <a:t>2</a:t>
            </a:r>
          </a:p>
        </p:txBody>
      </p:sp>
      <p:sp>
        <p:nvSpPr>
          <p:cNvPr id="25" name="Shape 5">
            <a:extLst>
              <a:ext uri="{FF2B5EF4-FFF2-40B4-BE49-F238E27FC236}">
                <a16:creationId xmlns:a16="http://schemas.microsoft.com/office/drawing/2014/main" id="{6A665034-3C46-9D4A-4754-76011B8BBC72}"/>
              </a:ext>
            </a:extLst>
          </p:cNvPr>
          <p:cNvSpPr/>
          <p:nvPr/>
        </p:nvSpPr>
        <p:spPr>
          <a:xfrm>
            <a:off x="320511" y="3412752"/>
            <a:ext cx="527901" cy="851656"/>
          </a:xfrm>
          <a:prstGeom prst="rect">
            <a:avLst/>
          </a:prstGeom>
          <a:solidFill>
            <a:srgbClr val="CC0000"/>
          </a:solidFill>
          <a:ln w="12700">
            <a:solidFill>
              <a:srgbClr val="CC0000"/>
            </a:solidFill>
            <a:prstDash val="solid"/>
          </a:ln>
        </p:spPr>
        <p:txBody>
          <a:bodyPr/>
          <a:lstStyle/>
          <a:p>
            <a:pPr algn="ctr">
              <a:lnSpc>
                <a:spcPct val="200000"/>
              </a:lnSpc>
            </a:pPr>
            <a:r>
              <a:rPr lang="en-IN" b="1" dirty="0">
                <a:solidFill>
                  <a:schemeClr val="bg1"/>
                </a:solidFill>
              </a:rPr>
              <a:t>3</a:t>
            </a:r>
          </a:p>
        </p:txBody>
      </p:sp>
      <p:sp>
        <p:nvSpPr>
          <p:cNvPr id="26" name="Shape 5">
            <a:extLst>
              <a:ext uri="{FF2B5EF4-FFF2-40B4-BE49-F238E27FC236}">
                <a16:creationId xmlns:a16="http://schemas.microsoft.com/office/drawing/2014/main" id="{EE915B5C-0EDB-18BC-C4D1-26D9A34C9861}"/>
              </a:ext>
            </a:extLst>
          </p:cNvPr>
          <p:cNvSpPr/>
          <p:nvPr/>
        </p:nvSpPr>
        <p:spPr>
          <a:xfrm>
            <a:off x="320511" y="4546821"/>
            <a:ext cx="527901" cy="843478"/>
          </a:xfrm>
          <a:prstGeom prst="rect">
            <a:avLst/>
          </a:prstGeom>
          <a:solidFill>
            <a:srgbClr val="CC0000"/>
          </a:solidFill>
          <a:ln w="12700">
            <a:solidFill>
              <a:srgbClr val="CC0000"/>
            </a:solidFill>
            <a:prstDash val="solid"/>
          </a:ln>
        </p:spPr>
        <p:txBody>
          <a:bodyPr/>
          <a:lstStyle/>
          <a:p>
            <a:pPr algn="ctr">
              <a:lnSpc>
                <a:spcPct val="200000"/>
              </a:lnSpc>
            </a:pPr>
            <a:r>
              <a:rPr lang="en-IN" b="1" dirty="0">
                <a:solidFill>
                  <a:schemeClr val="bg1"/>
                </a:solidFill>
              </a:rPr>
              <a:t>4</a:t>
            </a:r>
          </a:p>
        </p:txBody>
      </p:sp>
      <p:sp>
        <p:nvSpPr>
          <p:cNvPr id="27" name="Shape 5">
            <a:extLst>
              <a:ext uri="{FF2B5EF4-FFF2-40B4-BE49-F238E27FC236}">
                <a16:creationId xmlns:a16="http://schemas.microsoft.com/office/drawing/2014/main" id="{4F3B316B-907C-3BD6-F137-232F3D4468C8}"/>
              </a:ext>
            </a:extLst>
          </p:cNvPr>
          <p:cNvSpPr/>
          <p:nvPr/>
        </p:nvSpPr>
        <p:spPr>
          <a:xfrm>
            <a:off x="320511" y="5654005"/>
            <a:ext cx="527901" cy="752612"/>
          </a:xfrm>
          <a:prstGeom prst="rect">
            <a:avLst/>
          </a:prstGeom>
          <a:solidFill>
            <a:srgbClr val="CC0000"/>
          </a:solidFill>
          <a:ln w="12700">
            <a:solidFill>
              <a:srgbClr val="CC0000"/>
            </a:solidFill>
            <a:prstDash val="solid"/>
          </a:ln>
        </p:spPr>
        <p:txBody>
          <a:bodyPr/>
          <a:lstStyle/>
          <a:p>
            <a:pPr algn="ctr">
              <a:lnSpc>
                <a:spcPct val="200000"/>
              </a:lnSpc>
            </a:pPr>
            <a:r>
              <a:rPr lang="en-IN" b="1" dirty="0">
                <a:solidFill>
                  <a:schemeClr val="bg1"/>
                </a:solidFill>
              </a:rPr>
              <a:t>5</a:t>
            </a:r>
          </a:p>
        </p:txBody>
      </p:sp>
      <p:cxnSp>
        <p:nvCxnSpPr>
          <p:cNvPr id="29" name="Straight Connector 28">
            <a:extLst>
              <a:ext uri="{FF2B5EF4-FFF2-40B4-BE49-F238E27FC236}">
                <a16:creationId xmlns:a16="http://schemas.microsoft.com/office/drawing/2014/main" id="{4F1AF68F-BAEC-FC9A-14FE-076F20E46B3C}"/>
              </a:ext>
            </a:extLst>
          </p:cNvPr>
          <p:cNvCxnSpPr>
            <a:stCxn id="6" idx="2"/>
            <a:endCxn id="24" idx="0"/>
          </p:cNvCxnSpPr>
          <p:nvPr/>
        </p:nvCxnSpPr>
        <p:spPr>
          <a:xfrm>
            <a:off x="584462" y="1998481"/>
            <a:ext cx="0" cy="288000"/>
          </a:xfrm>
          <a:prstGeom prst="line">
            <a:avLst/>
          </a:prstGeom>
        </p:spPr>
        <p:style>
          <a:lnRef idx="2">
            <a:schemeClr val="accent2"/>
          </a:lnRef>
          <a:fillRef idx="0">
            <a:schemeClr val="accent2"/>
          </a:fillRef>
          <a:effectRef idx="1">
            <a:schemeClr val="accent2"/>
          </a:effectRef>
          <a:fontRef idx="minor">
            <a:schemeClr val="tx1"/>
          </a:fontRef>
        </p:style>
      </p:cxnSp>
      <p:cxnSp>
        <p:nvCxnSpPr>
          <p:cNvPr id="31" name="Straight Connector 30">
            <a:extLst>
              <a:ext uri="{FF2B5EF4-FFF2-40B4-BE49-F238E27FC236}">
                <a16:creationId xmlns:a16="http://schemas.microsoft.com/office/drawing/2014/main" id="{3F829E96-7D19-0084-6513-2E6CF7F30469}"/>
              </a:ext>
            </a:extLst>
          </p:cNvPr>
          <p:cNvCxnSpPr>
            <a:stCxn id="24" idx="2"/>
            <a:endCxn id="25" idx="0"/>
          </p:cNvCxnSpPr>
          <p:nvPr/>
        </p:nvCxnSpPr>
        <p:spPr>
          <a:xfrm>
            <a:off x="584462" y="3138516"/>
            <a:ext cx="0" cy="274236"/>
          </a:xfrm>
          <a:prstGeom prst="line">
            <a:avLst/>
          </a:prstGeom>
        </p:spPr>
        <p:style>
          <a:lnRef idx="2">
            <a:schemeClr val="accent2"/>
          </a:lnRef>
          <a:fillRef idx="0">
            <a:schemeClr val="accent2"/>
          </a:fillRef>
          <a:effectRef idx="1">
            <a:schemeClr val="accent2"/>
          </a:effectRef>
          <a:fontRef idx="minor">
            <a:schemeClr val="tx1"/>
          </a:fontRef>
        </p:style>
      </p:cxnSp>
      <p:cxnSp>
        <p:nvCxnSpPr>
          <p:cNvPr id="33" name="Straight Connector 32">
            <a:extLst>
              <a:ext uri="{FF2B5EF4-FFF2-40B4-BE49-F238E27FC236}">
                <a16:creationId xmlns:a16="http://schemas.microsoft.com/office/drawing/2014/main" id="{CFF90A8C-AA4A-C049-3A04-8C761AAD68F4}"/>
              </a:ext>
            </a:extLst>
          </p:cNvPr>
          <p:cNvCxnSpPr>
            <a:stCxn id="25" idx="2"/>
            <a:endCxn id="26" idx="0"/>
          </p:cNvCxnSpPr>
          <p:nvPr/>
        </p:nvCxnSpPr>
        <p:spPr>
          <a:xfrm>
            <a:off x="584462" y="4264408"/>
            <a:ext cx="0" cy="282413"/>
          </a:xfrm>
          <a:prstGeom prst="line">
            <a:avLst/>
          </a:prstGeom>
        </p:spPr>
        <p:style>
          <a:lnRef idx="2">
            <a:schemeClr val="accent2"/>
          </a:lnRef>
          <a:fillRef idx="0">
            <a:schemeClr val="accent2"/>
          </a:fillRef>
          <a:effectRef idx="1">
            <a:schemeClr val="accent2"/>
          </a:effectRef>
          <a:fontRef idx="minor">
            <a:schemeClr val="tx1"/>
          </a:fontRef>
        </p:style>
      </p:cxnSp>
      <p:cxnSp>
        <p:nvCxnSpPr>
          <p:cNvPr id="35" name="Straight Connector 34">
            <a:extLst>
              <a:ext uri="{FF2B5EF4-FFF2-40B4-BE49-F238E27FC236}">
                <a16:creationId xmlns:a16="http://schemas.microsoft.com/office/drawing/2014/main" id="{014C763D-8A4E-6D8F-2CAD-AA86DFCA428A}"/>
              </a:ext>
            </a:extLst>
          </p:cNvPr>
          <p:cNvCxnSpPr>
            <a:stCxn id="26" idx="2"/>
            <a:endCxn id="27" idx="0"/>
          </p:cNvCxnSpPr>
          <p:nvPr/>
        </p:nvCxnSpPr>
        <p:spPr>
          <a:xfrm>
            <a:off x="584462" y="5390299"/>
            <a:ext cx="0" cy="263706"/>
          </a:xfrm>
          <a:prstGeom prst="line">
            <a:avLst/>
          </a:prstGeom>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21864688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6FA88-DAC9-B5EB-BAEF-938B4C74E382}"/>
              </a:ext>
            </a:extLst>
          </p:cNvPr>
          <p:cNvSpPr>
            <a:spLocks noGrp="1"/>
          </p:cNvSpPr>
          <p:nvPr>
            <p:ph type="title"/>
          </p:nvPr>
        </p:nvSpPr>
        <p:spPr>
          <a:xfrm>
            <a:off x="194310" y="0"/>
            <a:ext cx="6195060" cy="914040"/>
          </a:xfrm>
        </p:spPr>
        <p:txBody>
          <a:bodyPr/>
          <a:lstStyle/>
          <a:p>
            <a:pPr algn="ctr"/>
            <a:r>
              <a:rPr lang="en-IN" sz="3200" b="1" dirty="0">
                <a:latin typeface="Times New Roman" panose="02020603050405020304" pitchFamily="18" charset="0"/>
                <a:cs typeface="Times New Roman" panose="02020603050405020304" pitchFamily="18" charset="0"/>
              </a:rPr>
              <a:t>System Architecture &amp; Workflow</a:t>
            </a:r>
          </a:p>
        </p:txBody>
      </p:sp>
      <p:sp>
        <p:nvSpPr>
          <p:cNvPr id="6" name="Shape 5">
            <a:extLst>
              <a:ext uri="{FF2B5EF4-FFF2-40B4-BE49-F238E27FC236}">
                <a16:creationId xmlns:a16="http://schemas.microsoft.com/office/drawing/2014/main" id="{8265FAD2-CEB7-56D0-47A4-A419CD620C6B}"/>
              </a:ext>
            </a:extLst>
          </p:cNvPr>
          <p:cNvSpPr/>
          <p:nvPr/>
        </p:nvSpPr>
        <p:spPr>
          <a:xfrm>
            <a:off x="457200" y="3011805"/>
            <a:ext cx="1280160" cy="834390"/>
          </a:xfrm>
          <a:prstGeom prst="rect">
            <a:avLst/>
          </a:prstGeom>
          <a:solidFill>
            <a:srgbClr val="F5F5F5"/>
          </a:solidFill>
          <a:ln w="19050">
            <a:solidFill>
              <a:srgbClr val="CC0000"/>
            </a:solidFill>
            <a:prstDash val="solid"/>
          </a:ln>
          <a:effectLst>
            <a:outerShdw blurRad="50800" dist="25400" dir="8100000" algn="bl" rotWithShape="0">
              <a:srgbClr val="AAAAAA">
                <a:alpha val="25000"/>
              </a:srgbClr>
            </a:outerShdw>
          </a:effectLst>
        </p:spPr>
        <p:txBody>
          <a:bodyPr/>
          <a:lstStyle/>
          <a:p>
            <a:pPr algn="ctr">
              <a:lnSpc>
                <a:spcPct val="150000"/>
              </a:lnSpc>
            </a:pPr>
            <a:r>
              <a:rPr lang="en-IN" sz="1400" b="1" dirty="0">
                <a:latin typeface="Times New Roman" panose="02020603050405020304" pitchFamily="18" charset="0"/>
                <a:cs typeface="Times New Roman" panose="02020603050405020304" pitchFamily="18" charset="0"/>
              </a:rPr>
              <a:t>Input </a:t>
            </a:r>
          </a:p>
          <a:p>
            <a:pPr algn="ctr">
              <a:lnSpc>
                <a:spcPct val="150000"/>
              </a:lnSpc>
            </a:pPr>
            <a:r>
              <a:rPr lang="en-IN" sz="1400" b="1" dirty="0">
                <a:latin typeface="Times New Roman" panose="02020603050405020304" pitchFamily="18" charset="0"/>
                <a:cs typeface="Times New Roman" panose="02020603050405020304" pitchFamily="18" charset="0"/>
              </a:rPr>
              <a:t>Video</a:t>
            </a:r>
          </a:p>
        </p:txBody>
      </p:sp>
      <p:sp>
        <p:nvSpPr>
          <p:cNvPr id="8" name="Shape 8">
            <a:extLst>
              <a:ext uri="{FF2B5EF4-FFF2-40B4-BE49-F238E27FC236}">
                <a16:creationId xmlns:a16="http://schemas.microsoft.com/office/drawing/2014/main" id="{A881DEE6-B7F6-482F-F3A5-CB0C02A527EA}"/>
              </a:ext>
            </a:extLst>
          </p:cNvPr>
          <p:cNvSpPr/>
          <p:nvPr/>
        </p:nvSpPr>
        <p:spPr>
          <a:xfrm>
            <a:off x="1931670" y="3017520"/>
            <a:ext cx="1417320" cy="822960"/>
          </a:xfrm>
          <a:prstGeom prst="rect">
            <a:avLst/>
          </a:prstGeom>
          <a:solidFill>
            <a:srgbClr val="FFFFFF"/>
          </a:solidFill>
          <a:ln w="19050">
            <a:solidFill>
              <a:srgbClr val="CC0000"/>
            </a:solidFill>
            <a:prstDash val="solid"/>
          </a:ln>
          <a:effectLst>
            <a:outerShdw blurRad="50800" dist="25400" dir="8100000" algn="bl" rotWithShape="0">
              <a:srgbClr val="AAAAAA">
                <a:alpha val="25000"/>
              </a:srgbClr>
            </a:outerShdw>
          </a:effectLst>
        </p:spPr>
        <p:txBody>
          <a:bodyPr/>
          <a:lstStyle/>
          <a:p>
            <a:pPr algn="ctr">
              <a:lnSpc>
                <a:spcPct val="150000"/>
              </a:lnSpc>
            </a:pPr>
            <a:r>
              <a:rPr lang="en-IN" sz="1400" b="1" dirty="0">
                <a:latin typeface="Times New Roman" panose="02020603050405020304" pitchFamily="18" charset="0"/>
                <a:cs typeface="Times New Roman" panose="02020603050405020304" pitchFamily="18" charset="0"/>
              </a:rPr>
              <a:t>Face </a:t>
            </a:r>
          </a:p>
          <a:p>
            <a:pPr algn="ctr">
              <a:lnSpc>
                <a:spcPct val="150000"/>
              </a:lnSpc>
            </a:pPr>
            <a:r>
              <a:rPr lang="en-IN" sz="1400" b="1" dirty="0">
                <a:latin typeface="Times New Roman" panose="02020603050405020304" pitchFamily="18" charset="0"/>
                <a:cs typeface="Times New Roman" panose="02020603050405020304" pitchFamily="18" charset="0"/>
              </a:rPr>
              <a:t>Extraction</a:t>
            </a:r>
          </a:p>
        </p:txBody>
      </p:sp>
      <p:sp>
        <p:nvSpPr>
          <p:cNvPr id="9" name="Shape 11">
            <a:extLst>
              <a:ext uri="{FF2B5EF4-FFF2-40B4-BE49-F238E27FC236}">
                <a16:creationId xmlns:a16="http://schemas.microsoft.com/office/drawing/2014/main" id="{EF8D8583-C2D6-928B-9372-FF828AC3AD4D}"/>
              </a:ext>
            </a:extLst>
          </p:cNvPr>
          <p:cNvSpPr/>
          <p:nvPr/>
        </p:nvSpPr>
        <p:spPr>
          <a:xfrm>
            <a:off x="3543300" y="3017520"/>
            <a:ext cx="1737360" cy="822960"/>
          </a:xfrm>
          <a:prstGeom prst="rect">
            <a:avLst/>
          </a:prstGeom>
          <a:solidFill>
            <a:srgbClr val="FFFFFF"/>
          </a:solidFill>
          <a:ln w="19050">
            <a:solidFill>
              <a:srgbClr val="CC0000"/>
            </a:solidFill>
            <a:prstDash val="solid"/>
          </a:ln>
          <a:effectLst>
            <a:outerShdw blurRad="50800" dist="25400" dir="8100000" algn="bl" rotWithShape="0">
              <a:srgbClr val="AAAAAA">
                <a:alpha val="25000"/>
              </a:srgbClr>
            </a:outerShdw>
          </a:effectLst>
        </p:spPr>
        <p:txBody>
          <a:bodyPr/>
          <a:lstStyle/>
          <a:p>
            <a:pPr algn="ctr">
              <a:lnSpc>
                <a:spcPct val="150000"/>
              </a:lnSpc>
            </a:pPr>
            <a:r>
              <a:rPr lang="en-IN" sz="1400" b="1" dirty="0">
                <a:latin typeface="Times New Roman" panose="02020603050405020304" pitchFamily="18" charset="0"/>
                <a:cs typeface="Times New Roman" panose="02020603050405020304" pitchFamily="18" charset="0"/>
              </a:rPr>
              <a:t>Preprocessing</a:t>
            </a:r>
          </a:p>
          <a:p>
            <a:pPr algn="ctr">
              <a:lnSpc>
                <a:spcPct val="150000"/>
              </a:lnSpc>
            </a:pPr>
            <a:r>
              <a:rPr lang="en-IN" sz="1400" b="1" dirty="0">
                <a:latin typeface="Times New Roman" panose="02020603050405020304" pitchFamily="18" charset="0"/>
                <a:cs typeface="Times New Roman" panose="02020603050405020304" pitchFamily="18" charset="0"/>
              </a:rPr>
              <a:t>&amp; Augmentation</a:t>
            </a:r>
          </a:p>
          <a:p>
            <a:endParaRPr lang="en-IN" dirty="0"/>
          </a:p>
        </p:txBody>
      </p:sp>
      <p:sp>
        <p:nvSpPr>
          <p:cNvPr id="10" name="Shape 14">
            <a:extLst>
              <a:ext uri="{FF2B5EF4-FFF2-40B4-BE49-F238E27FC236}">
                <a16:creationId xmlns:a16="http://schemas.microsoft.com/office/drawing/2014/main" id="{90EB8926-70B4-E2FA-C928-811031035A7A}"/>
              </a:ext>
            </a:extLst>
          </p:cNvPr>
          <p:cNvSpPr/>
          <p:nvPr/>
        </p:nvSpPr>
        <p:spPr>
          <a:xfrm>
            <a:off x="5474970" y="3011805"/>
            <a:ext cx="1554480" cy="822960"/>
          </a:xfrm>
          <a:prstGeom prst="rect">
            <a:avLst/>
          </a:prstGeom>
          <a:solidFill>
            <a:srgbClr val="FFFFFF"/>
          </a:solidFill>
          <a:ln w="19050">
            <a:solidFill>
              <a:srgbClr val="CC0000"/>
            </a:solidFill>
            <a:prstDash val="solid"/>
          </a:ln>
          <a:effectLst>
            <a:outerShdw blurRad="50800" dist="25400" dir="8100000" algn="bl" rotWithShape="0">
              <a:srgbClr val="AAAAAA">
                <a:alpha val="25000"/>
              </a:srgbClr>
            </a:outerShdw>
          </a:effectLst>
        </p:spPr>
        <p:txBody>
          <a:bodyPr/>
          <a:lstStyle/>
          <a:p>
            <a:pPr algn="ctr">
              <a:lnSpc>
                <a:spcPct val="150000"/>
              </a:lnSpc>
            </a:pPr>
            <a:r>
              <a:rPr lang="en-US" sz="1400" b="1" dirty="0">
                <a:solidFill>
                  <a:srgbClr val="1A1A1A"/>
                </a:solidFill>
                <a:latin typeface="Times New Roman" panose="02020603050405020304" pitchFamily="18" charset="0"/>
                <a:ea typeface="Times New Roman" pitchFamily="34" charset="-122"/>
                <a:cs typeface="Times New Roman" panose="02020603050405020304" pitchFamily="18" charset="0"/>
              </a:rPr>
              <a:t>CNN Feature</a:t>
            </a:r>
            <a:endParaRPr lang="en-US" sz="1400" b="1" dirty="0">
              <a:latin typeface="Times New Roman" panose="02020603050405020304" pitchFamily="18" charset="0"/>
              <a:cs typeface="Times New Roman" panose="02020603050405020304" pitchFamily="18" charset="0"/>
            </a:endParaRPr>
          </a:p>
          <a:p>
            <a:pPr algn="ctr">
              <a:lnSpc>
                <a:spcPct val="150000"/>
              </a:lnSpc>
            </a:pPr>
            <a:r>
              <a:rPr lang="en-US" sz="1400" b="1" dirty="0">
                <a:solidFill>
                  <a:srgbClr val="1A1A1A"/>
                </a:solidFill>
                <a:latin typeface="Times New Roman" panose="02020603050405020304" pitchFamily="18" charset="0"/>
                <a:ea typeface="Times New Roman" pitchFamily="34" charset="-122"/>
                <a:cs typeface="Times New Roman" panose="02020603050405020304" pitchFamily="18" charset="0"/>
              </a:rPr>
              <a:t>Extraction</a:t>
            </a:r>
            <a:endParaRPr lang="en-US" sz="1400" b="1" dirty="0">
              <a:latin typeface="Times New Roman" panose="02020603050405020304" pitchFamily="18" charset="0"/>
              <a:cs typeface="Times New Roman" panose="02020603050405020304" pitchFamily="18" charset="0"/>
            </a:endParaRPr>
          </a:p>
          <a:p>
            <a:endParaRPr lang="en-IN" dirty="0"/>
          </a:p>
        </p:txBody>
      </p:sp>
      <p:sp>
        <p:nvSpPr>
          <p:cNvPr id="11" name="Shape 17">
            <a:extLst>
              <a:ext uri="{FF2B5EF4-FFF2-40B4-BE49-F238E27FC236}">
                <a16:creationId xmlns:a16="http://schemas.microsoft.com/office/drawing/2014/main" id="{F7AE9CDC-D01F-B39F-58F3-87F236015659}"/>
              </a:ext>
            </a:extLst>
          </p:cNvPr>
          <p:cNvSpPr/>
          <p:nvPr/>
        </p:nvSpPr>
        <p:spPr>
          <a:xfrm>
            <a:off x="7223760" y="3011805"/>
            <a:ext cx="1600200" cy="822960"/>
          </a:xfrm>
          <a:prstGeom prst="rect">
            <a:avLst/>
          </a:prstGeom>
          <a:solidFill>
            <a:srgbClr val="FFF0F0"/>
          </a:solidFill>
          <a:ln w="19050">
            <a:solidFill>
              <a:srgbClr val="CC0000"/>
            </a:solidFill>
            <a:prstDash val="solid"/>
          </a:ln>
          <a:effectLst>
            <a:outerShdw blurRad="50800" dist="25400" dir="8100000" algn="bl" rotWithShape="0">
              <a:srgbClr val="AAAAAA">
                <a:alpha val="25000"/>
              </a:srgbClr>
            </a:outerShdw>
          </a:effectLst>
        </p:spPr>
        <p:txBody>
          <a:bodyPr/>
          <a:lstStyle/>
          <a:p>
            <a:pPr algn="ctr">
              <a:lnSpc>
                <a:spcPct val="150000"/>
              </a:lnSpc>
            </a:pPr>
            <a:r>
              <a:rPr lang="en-US" sz="1400" b="1" dirty="0">
                <a:solidFill>
                  <a:srgbClr val="1A1A1A"/>
                </a:solidFill>
                <a:latin typeface="Times New Roman" panose="02020603050405020304" pitchFamily="18" charset="0"/>
                <a:ea typeface="Times New Roman" pitchFamily="34" charset="-122"/>
                <a:cs typeface="Times New Roman" panose="02020603050405020304" pitchFamily="18" charset="0"/>
              </a:rPr>
              <a:t>Capsule</a:t>
            </a:r>
            <a:endParaRPr lang="en-US" sz="1400" b="1" dirty="0">
              <a:latin typeface="Times New Roman" panose="02020603050405020304" pitchFamily="18" charset="0"/>
              <a:cs typeface="Times New Roman" panose="02020603050405020304" pitchFamily="18" charset="0"/>
            </a:endParaRPr>
          </a:p>
          <a:p>
            <a:pPr algn="ctr">
              <a:lnSpc>
                <a:spcPct val="150000"/>
              </a:lnSpc>
            </a:pPr>
            <a:r>
              <a:rPr lang="en-US" sz="1400" b="1" dirty="0">
                <a:solidFill>
                  <a:srgbClr val="1A1A1A"/>
                </a:solidFill>
                <a:latin typeface="Times New Roman" panose="02020603050405020304" pitchFamily="18" charset="0"/>
                <a:ea typeface="Times New Roman" pitchFamily="34" charset="-122"/>
                <a:cs typeface="Times New Roman" panose="02020603050405020304" pitchFamily="18" charset="0"/>
              </a:rPr>
              <a:t>Network</a:t>
            </a:r>
            <a:endParaRPr lang="en-US" sz="1400" b="1" dirty="0">
              <a:latin typeface="Times New Roman" panose="02020603050405020304" pitchFamily="18" charset="0"/>
              <a:cs typeface="Times New Roman" panose="02020603050405020304" pitchFamily="18" charset="0"/>
            </a:endParaRPr>
          </a:p>
        </p:txBody>
      </p:sp>
      <p:sp>
        <p:nvSpPr>
          <p:cNvPr id="12" name="Shape 19">
            <a:extLst>
              <a:ext uri="{FF2B5EF4-FFF2-40B4-BE49-F238E27FC236}">
                <a16:creationId xmlns:a16="http://schemas.microsoft.com/office/drawing/2014/main" id="{B56CCAEA-4CA5-E40B-B1E2-5A8FABB2853C}"/>
              </a:ext>
            </a:extLst>
          </p:cNvPr>
          <p:cNvSpPr/>
          <p:nvPr/>
        </p:nvSpPr>
        <p:spPr>
          <a:xfrm>
            <a:off x="3348990" y="4789170"/>
            <a:ext cx="2194560" cy="939186"/>
          </a:xfrm>
          <a:prstGeom prst="rect">
            <a:avLst/>
          </a:prstGeom>
          <a:solidFill>
            <a:srgbClr val="CC0000"/>
          </a:solidFill>
          <a:ln w="12700">
            <a:solidFill>
              <a:srgbClr val="CC0000"/>
            </a:solidFill>
            <a:prstDash val="solid"/>
          </a:ln>
        </p:spPr>
        <p:txBody>
          <a:bodyPr/>
          <a:lstStyle/>
          <a:p>
            <a:pPr algn="ctr">
              <a:lnSpc>
                <a:spcPct val="150000"/>
              </a:lnSpc>
            </a:pPr>
            <a:r>
              <a:rPr lang="en-IN" b="1" dirty="0">
                <a:solidFill>
                  <a:schemeClr val="bg1"/>
                </a:solidFill>
                <a:latin typeface="Times New Roman" panose="02020603050405020304" pitchFamily="18" charset="0"/>
                <a:cs typeface="Times New Roman" panose="02020603050405020304" pitchFamily="18" charset="0"/>
              </a:rPr>
              <a:t>Classification</a:t>
            </a:r>
          </a:p>
          <a:p>
            <a:pPr algn="ctr">
              <a:lnSpc>
                <a:spcPct val="150000"/>
              </a:lnSpc>
            </a:pPr>
            <a:r>
              <a:rPr lang="en-IN" b="1" dirty="0">
                <a:solidFill>
                  <a:schemeClr val="bg1"/>
                </a:solidFill>
                <a:latin typeface="Times New Roman" panose="02020603050405020304" pitchFamily="18" charset="0"/>
                <a:cs typeface="Times New Roman" panose="02020603050405020304" pitchFamily="18" charset="0"/>
              </a:rPr>
              <a:t>Real / Fake</a:t>
            </a:r>
          </a:p>
          <a:p>
            <a:endParaRPr lang="en-IN" dirty="0"/>
          </a:p>
        </p:txBody>
      </p:sp>
      <p:sp>
        <p:nvSpPr>
          <p:cNvPr id="13" name="Text 25">
            <a:extLst>
              <a:ext uri="{FF2B5EF4-FFF2-40B4-BE49-F238E27FC236}">
                <a16:creationId xmlns:a16="http://schemas.microsoft.com/office/drawing/2014/main" id="{1B8280F8-57BF-0FEC-BE66-A8E6F0B823E7}"/>
              </a:ext>
            </a:extLst>
          </p:cNvPr>
          <p:cNvSpPr/>
          <p:nvPr/>
        </p:nvSpPr>
        <p:spPr>
          <a:xfrm>
            <a:off x="457200" y="4009644"/>
            <a:ext cx="1280160" cy="256032"/>
          </a:xfrm>
          <a:prstGeom prst="rect">
            <a:avLst/>
          </a:prstGeom>
          <a:noFill/>
          <a:ln/>
        </p:spPr>
        <p:txBody>
          <a:bodyPr wrap="square" rtlCol="0" anchor="ctr"/>
          <a:lstStyle/>
          <a:p>
            <a:pPr marL="0" indent="0" algn="ctr">
              <a:buNone/>
            </a:pPr>
            <a:r>
              <a:rPr lang="en-US" sz="1400" dirty="0">
                <a:solidFill>
                  <a:srgbClr val="555555"/>
                </a:solidFill>
                <a:latin typeface="Times New Roman" pitchFamily="34" charset="0"/>
                <a:ea typeface="Times New Roman" pitchFamily="34" charset="-122"/>
                <a:cs typeface="Times New Roman" pitchFamily="34" charset="-120"/>
              </a:rPr>
              <a:t>Raw frames</a:t>
            </a:r>
            <a:endParaRPr lang="en-US" sz="1400" dirty="0"/>
          </a:p>
        </p:txBody>
      </p:sp>
      <p:sp>
        <p:nvSpPr>
          <p:cNvPr id="14" name="Text 26">
            <a:extLst>
              <a:ext uri="{FF2B5EF4-FFF2-40B4-BE49-F238E27FC236}">
                <a16:creationId xmlns:a16="http://schemas.microsoft.com/office/drawing/2014/main" id="{8283A89B-3374-ECE1-7B1A-140245A4155F}"/>
              </a:ext>
            </a:extLst>
          </p:cNvPr>
          <p:cNvSpPr/>
          <p:nvPr/>
        </p:nvSpPr>
        <p:spPr>
          <a:xfrm>
            <a:off x="1931670" y="4009644"/>
            <a:ext cx="1417320" cy="256032"/>
          </a:xfrm>
          <a:prstGeom prst="rect">
            <a:avLst/>
          </a:prstGeom>
          <a:noFill/>
          <a:ln/>
        </p:spPr>
        <p:txBody>
          <a:bodyPr wrap="square" rtlCol="0" anchor="ctr"/>
          <a:lstStyle/>
          <a:p>
            <a:pPr marL="0" indent="0" algn="ctr">
              <a:buNone/>
            </a:pPr>
            <a:r>
              <a:rPr lang="en-US" sz="1400" dirty="0">
                <a:solidFill>
                  <a:srgbClr val="555555"/>
                </a:solidFill>
                <a:latin typeface="Times New Roman" pitchFamily="34" charset="0"/>
                <a:ea typeface="Times New Roman" pitchFamily="34" charset="-122"/>
                <a:cs typeface="Times New Roman" pitchFamily="34" charset="-120"/>
              </a:rPr>
              <a:t>MTCNN / Dlib</a:t>
            </a:r>
            <a:endParaRPr lang="en-US" sz="1400" dirty="0"/>
          </a:p>
        </p:txBody>
      </p:sp>
      <p:sp>
        <p:nvSpPr>
          <p:cNvPr id="15" name="Text 27">
            <a:extLst>
              <a:ext uri="{FF2B5EF4-FFF2-40B4-BE49-F238E27FC236}">
                <a16:creationId xmlns:a16="http://schemas.microsoft.com/office/drawing/2014/main" id="{87A22D09-0478-873F-EB54-F8C3DBFFD461}"/>
              </a:ext>
            </a:extLst>
          </p:cNvPr>
          <p:cNvSpPr/>
          <p:nvPr/>
        </p:nvSpPr>
        <p:spPr>
          <a:xfrm>
            <a:off x="3543300" y="4009644"/>
            <a:ext cx="1737360" cy="256032"/>
          </a:xfrm>
          <a:prstGeom prst="rect">
            <a:avLst/>
          </a:prstGeom>
          <a:noFill/>
          <a:ln/>
        </p:spPr>
        <p:txBody>
          <a:bodyPr wrap="square" rtlCol="0" anchor="ctr"/>
          <a:lstStyle/>
          <a:p>
            <a:pPr marL="0" indent="0" algn="ctr">
              <a:buNone/>
            </a:pPr>
            <a:r>
              <a:rPr lang="en-US" sz="1400" dirty="0">
                <a:solidFill>
                  <a:srgbClr val="555555"/>
                </a:solidFill>
                <a:latin typeface="Times New Roman" pitchFamily="34" charset="0"/>
                <a:ea typeface="Times New Roman" pitchFamily="34" charset="-122"/>
                <a:cs typeface="Times New Roman" pitchFamily="34" charset="-120"/>
              </a:rPr>
              <a:t>Normalize + Resize</a:t>
            </a:r>
            <a:endParaRPr lang="en-US" sz="1400" dirty="0"/>
          </a:p>
        </p:txBody>
      </p:sp>
      <p:sp>
        <p:nvSpPr>
          <p:cNvPr id="16" name="Text 28">
            <a:extLst>
              <a:ext uri="{FF2B5EF4-FFF2-40B4-BE49-F238E27FC236}">
                <a16:creationId xmlns:a16="http://schemas.microsoft.com/office/drawing/2014/main" id="{7537A25E-DF60-AD11-2D25-AC544AF2FF90}"/>
              </a:ext>
            </a:extLst>
          </p:cNvPr>
          <p:cNvSpPr/>
          <p:nvPr/>
        </p:nvSpPr>
        <p:spPr>
          <a:xfrm>
            <a:off x="5474970" y="4009644"/>
            <a:ext cx="1554480" cy="256032"/>
          </a:xfrm>
          <a:prstGeom prst="rect">
            <a:avLst/>
          </a:prstGeom>
          <a:noFill/>
          <a:ln/>
        </p:spPr>
        <p:txBody>
          <a:bodyPr wrap="square" rtlCol="0" anchor="ctr"/>
          <a:lstStyle/>
          <a:p>
            <a:pPr marL="0" indent="0" algn="ctr">
              <a:buNone/>
            </a:pPr>
            <a:r>
              <a:rPr lang="en-US" sz="1400" dirty="0">
                <a:solidFill>
                  <a:srgbClr val="555555"/>
                </a:solidFill>
                <a:latin typeface="Times New Roman" pitchFamily="34" charset="0"/>
                <a:ea typeface="Times New Roman" pitchFamily="34" charset="-122"/>
                <a:cs typeface="Times New Roman" pitchFamily="34" charset="-120"/>
              </a:rPr>
              <a:t>Conv Layers</a:t>
            </a:r>
            <a:endParaRPr lang="en-US" sz="1400" dirty="0"/>
          </a:p>
        </p:txBody>
      </p:sp>
      <p:sp>
        <p:nvSpPr>
          <p:cNvPr id="18" name="Shape 23">
            <a:extLst>
              <a:ext uri="{FF2B5EF4-FFF2-40B4-BE49-F238E27FC236}">
                <a16:creationId xmlns:a16="http://schemas.microsoft.com/office/drawing/2014/main" id="{EDF1FBB8-E42A-2CF3-A21F-C213D7B14A09}"/>
              </a:ext>
            </a:extLst>
          </p:cNvPr>
          <p:cNvSpPr/>
          <p:nvPr/>
        </p:nvSpPr>
        <p:spPr>
          <a:xfrm>
            <a:off x="457200" y="1268730"/>
            <a:ext cx="8503920" cy="1303020"/>
          </a:xfrm>
          <a:prstGeom prst="rect">
            <a:avLst/>
          </a:prstGeom>
          <a:solidFill>
            <a:srgbClr val="F5F5F5"/>
          </a:solidFill>
          <a:ln w="12700">
            <a:solidFill>
              <a:srgbClr val="E0E0E0"/>
            </a:solidFill>
            <a:prstDash val="solid"/>
          </a:ln>
        </p:spPr>
        <p:txBody>
          <a:bodyPr/>
          <a:lstStyle/>
          <a:p>
            <a:pPr algn="just">
              <a:lnSpc>
                <a:spcPct val="150000"/>
              </a:lnSpc>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Architecture Overview: The CNN component extracts hierarchical feature maps → Capsule Network encodes spatial relationships via dynamic routing → Fully connected layer outputs binary prediction (Real/Fake) with probability score.</a:t>
            </a:r>
            <a:endParaRPr lang="en-US" sz="1600" dirty="0">
              <a:latin typeface="Times New Roman" panose="02020603050405020304" pitchFamily="18" charset="0"/>
              <a:cs typeface="Times New Roman" panose="02020603050405020304" pitchFamily="18" charset="0"/>
            </a:endParaRPr>
          </a:p>
          <a:p>
            <a:endParaRPr lang="en-IN" dirty="0"/>
          </a:p>
        </p:txBody>
      </p:sp>
      <p:cxnSp>
        <p:nvCxnSpPr>
          <p:cNvPr id="21" name="Straight Connector 20">
            <a:extLst>
              <a:ext uri="{FF2B5EF4-FFF2-40B4-BE49-F238E27FC236}">
                <a16:creationId xmlns:a16="http://schemas.microsoft.com/office/drawing/2014/main" id="{531303C9-1B33-9A1E-F154-B374EED54D7E}"/>
              </a:ext>
            </a:extLst>
          </p:cNvPr>
          <p:cNvCxnSpPr>
            <a:stCxn id="6" idx="3"/>
            <a:endCxn id="8" idx="1"/>
          </p:cNvCxnSpPr>
          <p:nvPr/>
        </p:nvCxnSpPr>
        <p:spPr>
          <a:xfrm>
            <a:off x="1737360" y="3429000"/>
            <a:ext cx="194310"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23" name="Straight Connector 22">
            <a:extLst>
              <a:ext uri="{FF2B5EF4-FFF2-40B4-BE49-F238E27FC236}">
                <a16:creationId xmlns:a16="http://schemas.microsoft.com/office/drawing/2014/main" id="{CB156EDF-64A7-D7B6-E9CE-93A981D3FCAA}"/>
              </a:ext>
            </a:extLst>
          </p:cNvPr>
          <p:cNvCxnSpPr>
            <a:stCxn id="8" idx="3"/>
            <a:endCxn id="9" idx="1"/>
          </p:cNvCxnSpPr>
          <p:nvPr/>
        </p:nvCxnSpPr>
        <p:spPr>
          <a:xfrm>
            <a:off x="3348990" y="3429000"/>
            <a:ext cx="194310"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25" name="Straight Connector 24">
            <a:extLst>
              <a:ext uri="{FF2B5EF4-FFF2-40B4-BE49-F238E27FC236}">
                <a16:creationId xmlns:a16="http://schemas.microsoft.com/office/drawing/2014/main" id="{44C827E3-EBF6-0522-C2C1-0BA949901C63}"/>
              </a:ext>
            </a:extLst>
          </p:cNvPr>
          <p:cNvCxnSpPr>
            <a:stCxn id="9" idx="3"/>
            <a:endCxn id="10" idx="1"/>
          </p:cNvCxnSpPr>
          <p:nvPr/>
        </p:nvCxnSpPr>
        <p:spPr>
          <a:xfrm flipV="1">
            <a:off x="5280660" y="3423285"/>
            <a:ext cx="194310" cy="5715"/>
          </a:xfrm>
          <a:prstGeom prst="line">
            <a:avLst/>
          </a:prstGeom>
        </p:spPr>
        <p:style>
          <a:lnRef idx="2">
            <a:schemeClr val="accent2"/>
          </a:lnRef>
          <a:fillRef idx="0">
            <a:schemeClr val="accent2"/>
          </a:fillRef>
          <a:effectRef idx="1">
            <a:schemeClr val="accent2"/>
          </a:effectRef>
          <a:fontRef idx="minor">
            <a:schemeClr val="tx1"/>
          </a:fontRef>
        </p:style>
      </p:cxnSp>
      <p:cxnSp>
        <p:nvCxnSpPr>
          <p:cNvPr id="27" name="Straight Connector 26">
            <a:extLst>
              <a:ext uri="{FF2B5EF4-FFF2-40B4-BE49-F238E27FC236}">
                <a16:creationId xmlns:a16="http://schemas.microsoft.com/office/drawing/2014/main" id="{DCD3C8B0-F9E3-E8E7-2D66-116E7A4F5896}"/>
              </a:ext>
            </a:extLst>
          </p:cNvPr>
          <p:cNvCxnSpPr>
            <a:stCxn id="10" idx="3"/>
            <a:endCxn id="11" idx="1"/>
          </p:cNvCxnSpPr>
          <p:nvPr/>
        </p:nvCxnSpPr>
        <p:spPr>
          <a:xfrm>
            <a:off x="7029450" y="3423285"/>
            <a:ext cx="194310" cy="0"/>
          </a:xfrm>
          <a:prstGeom prst="line">
            <a:avLst/>
          </a:prstGeom>
        </p:spPr>
        <p:style>
          <a:lnRef idx="2">
            <a:schemeClr val="accent2"/>
          </a:lnRef>
          <a:fillRef idx="0">
            <a:schemeClr val="accent2"/>
          </a:fillRef>
          <a:effectRef idx="1">
            <a:schemeClr val="accent2"/>
          </a:effectRef>
          <a:fontRef idx="minor">
            <a:schemeClr val="tx1"/>
          </a:fontRef>
        </p:style>
      </p:cxnSp>
      <p:sp>
        <p:nvSpPr>
          <p:cNvPr id="28" name="Text 29">
            <a:extLst>
              <a:ext uri="{FF2B5EF4-FFF2-40B4-BE49-F238E27FC236}">
                <a16:creationId xmlns:a16="http://schemas.microsoft.com/office/drawing/2014/main" id="{BA23A880-4EC4-91A5-77C7-E9015A3A97A8}"/>
              </a:ext>
            </a:extLst>
          </p:cNvPr>
          <p:cNvSpPr/>
          <p:nvPr/>
        </p:nvSpPr>
        <p:spPr>
          <a:xfrm>
            <a:off x="7212330" y="4004695"/>
            <a:ext cx="1600200" cy="256032"/>
          </a:xfrm>
          <a:prstGeom prst="rect">
            <a:avLst/>
          </a:prstGeom>
          <a:noFill/>
          <a:ln/>
        </p:spPr>
        <p:txBody>
          <a:bodyPr wrap="square" rtlCol="0" anchor="ctr"/>
          <a:lstStyle/>
          <a:p>
            <a:pPr marL="0" indent="0" algn="ctr">
              <a:buNone/>
            </a:pPr>
            <a:r>
              <a:rPr lang="en-US" sz="1400" dirty="0">
                <a:solidFill>
                  <a:srgbClr val="555555"/>
                </a:solidFill>
                <a:latin typeface="Times New Roman" pitchFamily="34" charset="0"/>
                <a:ea typeface="Times New Roman" pitchFamily="34" charset="-122"/>
                <a:cs typeface="Times New Roman" pitchFamily="34" charset="-120"/>
              </a:rPr>
              <a:t>Dynamic   Routing</a:t>
            </a:r>
            <a:endParaRPr lang="en-US" sz="1400" dirty="0"/>
          </a:p>
        </p:txBody>
      </p:sp>
      <p:cxnSp>
        <p:nvCxnSpPr>
          <p:cNvPr id="30" name="Straight Connector 29">
            <a:extLst>
              <a:ext uri="{FF2B5EF4-FFF2-40B4-BE49-F238E27FC236}">
                <a16:creationId xmlns:a16="http://schemas.microsoft.com/office/drawing/2014/main" id="{94FC4C55-E330-4E34-05EF-9C1F24EF0077}"/>
              </a:ext>
            </a:extLst>
          </p:cNvPr>
          <p:cNvCxnSpPr>
            <a:cxnSpLocks/>
            <a:stCxn id="11" idx="2"/>
          </p:cNvCxnSpPr>
          <p:nvPr/>
        </p:nvCxnSpPr>
        <p:spPr>
          <a:xfrm>
            <a:off x="8023860" y="3834765"/>
            <a:ext cx="0" cy="1423998"/>
          </a:xfrm>
          <a:prstGeom prst="line">
            <a:avLst/>
          </a:prstGeom>
        </p:spPr>
        <p:style>
          <a:lnRef idx="2">
            <a:schemeClr val="accent2"/>
          </a:lnRef>
          <a:fillRef idx="0">
            <a:schemeClr val="accent2"/>
          </a:fillRef>
          <a:effectRef idx="1">
            <a:schemeClr val="accent2"/>
          </a:effectRef>
          <a:fontRef idx="minor">
            <a:schemeClr val="tx1"/>
          </a:fontRef>
        </p:style>
      </p:cxnSp>
      <p:cxnSp>
        <p:nvCxnSpPr>
          <p:cNvPr id="32" name="Straight Connector 31">
            <a:extLst>
              <a:ext uri="{FF2B5EF4-FFF2-40B4-BE49-F238E27FC236}">
                <a16:creationId xmlns:a16="http://schemas.microsoft.com/office/drawing/2014/main" id="{80425925-ED5E-9414-9936-D9124A980382}"/>
              </a:ext>
            </a:extLst>
          </p:cNvPr>
          <p:cNvCxnSpPr>
            <a:cxnSpLocks/>
            <a:endCxn id="12" idx="3"/>
          </p:cNvCxnSpPr>
          <p:nvPr/>
        </p:nvCxnSpPr>
        <p:spPr>
          <a:xfrm flipH="1">
            <a:off x="5543550" y="5258763"/>
            <a:ext cx="2480310" cy="0"/>
          </a:xfrm>
          <a:prstGeom prst="line">
            <a:avLst/>
          </a:prstGeom>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40281385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717D1-5F04-6EEE-01F8-2BEDCF8B7543}"/>
              </a:ext>
            </a:extLst>
          </p:cNvPr>
          <p:cNvSpPr>
            <a:spLocks noGrp="1"/>
          </p:cNvSpPr>
          <p:nvPr>
            <p:ph type="title"/>
          </p:nvPr>
        </p:nvSpPr>
        <p:spPr/>
        <p:txBody>
          <a:bodyPr/>
          <a:lstStyle/>
          <a:p>
            <a:pPr algn="ctr"/>
            <a:r>
              <a:rPr lang="en-US" sz="3200" dirty="0">
                <a:latin typeface="Times New Roman" panose="02020603050405020304" pitchFamily="18" charset="0"/>
                <a:cs typeface="Times New Roman" panose="02020603050405020304" pitchFamily="18" charset="0"/>
              </a:rPr>
              <a:t>Tools &amp; Technologies</a:t>
            </a:r>
            <a:endParaRPr lang="en-IN" sz="32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704FC9C6-7505-B85D-FCA6-F669ED06CE60}"/>
              </a:ext>
            </a:extLst>
          </p:cNvPr>
          <p:cNvSpPr>
            <a:spLocks noGrp="1"/>
          </p:cNvSpPr>
          <p:nvPr>
            <p:ph type="subTitle"/>
          </p:nvPr>
        </p:nvSpPr>
        <p:spPr>
          <a:xfrm>
            <a:off x="1657350" y="1440360"/>
            <a:ext cx="5829300" cy="3977280"/>
          </a:xfrm>
        </p:spPr>
        <p:txBody>
          <a:bodyPr/>
          <a:lstStyle/>
          <a:p>
            <a:pPr marL="285750" indent="-285750">
              <a:lnSpc>
                <a:spcPct val="150000"/>
              </a:lnSpc>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Programming:</a:t>
            </a:r>
            <a:r>
              <a:rPr lang="en-US" sz="1600" dirty="0">
                <a:latin typeface="Times New Roman" panose="02020603050405020304" pitchFamily="18" charset="0"/>
                <a:cs typeface="Times New Roman" panose="02020603050405020304" pitchFamily="18" charset="0"/>
              </a:rPr>
              <a:t> Python 3x</a:t>
            </a:r>
          </a:p>
          <a:p>
            <a:pPr marL="285750" indent="-285750">
              <a:lnSpc>
                <a:spcPct val="150000"/>
              </a:lnSpc>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Datasets: </a:t>
            </a:r>
            <a:r>
              <a:rPr lang="en-US" sz="1600" dirty="0" err="1">
                <a:latin typeface="Times New Roman" panose="02020603050405020304" pitchFamily="18" charset="0"/>
                <a:cs typeface="Times New Roman" panose="02020603050405020304" pitchFamily="18" charset="0"/>
              </a:rPr>
              <a:t>FaceForensics</a:t>
            </a:r>
            <a:r>
              <a:rPr lang="en-US" sz="1600" dirty="0">
                <a:latin typeface="Times New Roman" panose="02020603050405020304" pitchFamily="18" charset="0"/>
                <a:cs typeface="Times New Roman" panose="02020603050405020304" pitchFamily="18" charset="0"/>
              </a:rPr>
              <a:t>++, Celeb-DF</a:t>
            </a:r>
          </a:p>
          <a:p>
            <a:pPr marL="285750" indent="-285750">
              <a:lnSpc>
                <a:spcPct val="150000"/>
              </a:lnSpc>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Deep Learning: </a:t>
            </a:r>
            <a:r>
              <a:rPr lang="en-US" sz="1600" dirty="0">
                <a:latin typeface="Times New Roman" panose="02020603050405020304" pitchFamily="18" charset="0"/>
                <a:cs typeface="Times New Roman" panose="02020603050405020304" pitchFamily="18" charset="0"/>
              </a:rPr>
              <a:t>TensorFlow / </a:t>
            </a:r>
            <a:r>
              <a:rPr lang="en-US" sz="1600" dirty="0" err="1">
                <a:latin typeface="Times New Roman" panose="02020603050405020304" pitchFamily="18" charset="0"/>
                <a:cs typeface="Times New Roman" panose="02020603050405020304" pitchFamily="18" charset="0"/>
              </a:rPr>
              <a:t>Keras</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PyTorch</a:t>
            </a:r>
            <a:endParaRPr lang="en-US" sz="1600"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Evaluation: </a:t>
            </a:r>
            <a:r>
              <a:rPr lang="en-US" sz="1600" dirty="0">
                <a:latin typeface="Times New Roman" panose="02020603050405020304" pitchFamily="18" charset="0"/>
                <a:cs typeface="Times New Roman" panose="02020603050405020304" pitchFamily="18" charset="0"/>
              </a:rPr>
              <a:t>Scikit-learn (Accuracy, F1, Precision, Recall)</a:t>
            </a:r>
          </a:p>
          <a:p>
            <a:pPr marL="285750" indent="-285750">
              <a:lnSpc>
                <a:spcPct val="150000"/>
              </a:lnSpc>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Face Detection: </a:t>
            </a:r>
            <a:r>
              <a:rPr lang="en-US" sz="1600" dirty="0">
                <a:latin typeface="Times New Roman" panose="02020603050405020304" pitchFamily="18" charset="0"/>
                <a:cs typeface="Times New Roman" panose="02020603050405020304" pitchFamily="18" charset="0"/>
              </a:rPr>
              <a:t>MTCNN, </a:t>
            </a:r>
            <a:r>
              <a:rPr lang="en-US" sz="1600" dirty="0" err="1">
                <a:latin typeface="Times New Roman" panose="02020603050405020304" pitchFamily="18" charset="0"/>
                <a:cs typeface="Times New Roman" panose="02020603050405020304" pitchFamily="18" charset="0"/>
              </a:rPr>
              <a:t>Dlib</a:t>
            </a:r>
            <a:r>
              <a:rPr lang="en-US" sz="1600" dirty="0">
                <a:latin typeface="Times New Roman" panose="02020603050405020304" pitchFamily="18" charset="0"/>
                <a:cs typeface="Times New Roman" panose="02020603050405020304" pitchFamily="18" charset="0"/>
              </a:rPr>
              <a:t>, OpenCV</a:t>
            </a:r>
          </a:p>
          <a:p>
            <a:pPr marL="285750" indent="-285750">
              <a:lnSpc>
                <a:spcPct val="150000"/>
              </a:lnSpc>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Visualization: </a:t>
            </a:r>
            <a:r>
              <a:rPr lang="en-US" sz="1600" dirty="0">
                <a:latin typeface="Times New Roman" panose="02020603050405020304" pitchFamily="18" charset="0"/>
                <a:cs typeface="Times New Roman" panose="02020603050405020304" pitchFamily="18" charset="0"/>
              </a:rPr>
              <a:t>Matplotlib, Seaborn, Confusion Matrix</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57290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6F266-10DC-E29E-F6C0-2D05ADAA517E}"/>
              </a:ext>
            </a:extLst>
          </p:cNvPr>
          <p:cNvSpPr>
            <a:spLocks noGrp="1"/>
          </p:cNvSpPr>
          <p:nvPr>
            <p:ph type="title"/>
          </p:nvPr>
        </p:nvSpPr>
        <p:spPr>
          <a:xfrm>
            <a:off x="605790" y="0"/>
            <a:ext cx="5486040" cy="914040"/>
          </a:xfrm>
        </p:spPr>
        <p:txBody>
          <a:bodyPr/>
          <a:lstStyle/>
          <a:p>
            <a:pPr algn="ctr"/>
            <a:r>
              <a:rPr lang="en-IN" sz="3200" b="1" dirty="0">
                <a:latin typeface="Times New Roman" panose="02020603050405020304" pitchFamily="18" charset="0"/>
                <a:cs typeface="Times New Roman" panose="02020603050405020304" pitchFamily="18" charset="0"/>
              </a:rPr>
              <a:t>Results &amp; Analysis</a:t>
            </a:r>
          </a:p>
        </p:txBody>
      </p:sp>
      <p:graphicFrame>
        <p:nvGraphicFramePr>
          <p:cNvPr id="5" name="Chart 0">
            <a:extLst>
              <a:ext uri="{FF2B5EF4-FFF2-40B4-BE49-F238E27FC236}">
                <a16:creationId xmlns:a16="http://schemas.microsoft.com/office/drawing/2014/main" id="{4B73EEBA-08ED-CEC7-4356-D9AD44211893}"/>
              </a:ext>
            </a:extLst>
          </p:cNvPr>
          <p:cNvGraphicFramePr/>
          <p:nvPr>
            <p:extLst>
              <p:ext uri="{D42A27DB-BD31-4B8C-83A1-F6EECF244321}">
                <p14:modId xmlns:p14="http://schemas.microsoft.com/office/powerpoint/2010/main" val="2128967710"/>
              </p:ext>
            </p:extLst>
          </p:nvPr>
        </p:nvGraphicFramePr>
        <p:xfrm>
          <a:off x="302067" y="2708910"/>
          <a:ext cx="4206240" cy="318494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1">
            <a:extLst>
              <a:ext uri="{FF2B5EF4-FFF2-40B4-BE49-F238E27FC236}">
                <a16:creationId xmlns:a16="http://schemas.microsoft.com/office/drawing/2014/main" id="{455A9621-B537-BBA1-876E-612174B29873}"/>
              </a:ext>
            </a:extLst>
          </p:cNvPr>
          <p:cNvGraphicFramePr/>
          <p:nvPr>
            <p:extLst>
              <p:ext uri="{D42A27DB-BD31-4B8C-83A1-F6EECF244321}">
                <p14:modId xmlns:p14="http://schemas.microsoft.com/office/powerpoint/2010/main" val="4138741962"/>
              </p:ext>
            </p:extLst>
          </p:nvPr>
        </p:nvGraphicFramePr>
        <p:xfrm>
          <a:off x="4635695" y="2708910"/>
          <a:ext cx="4206240" cy="318494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5">
            <a:extLst>
              <a:ext uri="{FF2B5EF4-FFF2-40B4-BE49-F238E27FC236}">
                <a16:creationId xmlns:a16="http://schemas.microsoft.com/office/drawing/2014/main" id="{6477A3C4-D16C-0F20-98B8-D07A45A71163}"/>
              </a:ext>
            </a:extLst>
          </p:cNvPr>
          <p:cNvSpPr/>
          <p:nvPr/>
        </p:nvSpPr>
        <p:spPr>
          <a:xfrm>
            <a:off x="302067" y="1312164"/>
            <a:ext cx="2011680" cy="804672"/>
          </a:xfrm>
          <a:prstGeom prst="rect">
            <a:avLst/>
          </a:prstGeom>
          <a:solidFill>
            <a:srgbClr val="F5F5F5"/>
          </a:solidFill>
          <a:ln w="12700">
            <a:solidFill>
              <a:srgbClr val="E0E0E0"/>
            </a:solidFill>
            <a:prstDash val="solid"/>
          </a:ln>
        </p:spPr>
        <p:txBody>
          <a:bodyPr/>
          <a:lstStyle/>
          <a:p>
            <a:endParaRPr lang="en-IN" dirty="0"/>
          </a:p>
        </p:txBody>
      </p:sp>
      <p:sp>
        <p:nvSpPr>
          <p:cNvPr id="8" name="Shape 8">
            <a:extLst>
              <a:ext uri="{FF2B5EF4-FFF2-40B4-BE49-F238E27FC236}">
                <a16:creationId xmlns:a16="http://schemas.microsoft.com/office/drawing/2014/main" id="{D4F2ED13-3A57-351E-C743-61A64D8AE491}"/>
              </a:ext>
            </a:extLst>
          </p:cNvPr>
          <p:cNvSpPr/>
          <p:nvPr/>
        </p:nvSpPr>
        <p:spPr>
          <a:xfrm>
            <a:off x="2496627" y="1312164"/>
            <a:ext cx="2011680" cy="804672"/>
          </a:xfrm>
          <a:prstGeom prst="rect">
            <a:avLst/>
          </a:prstGeom>
          <a:solidFill>
            <a:srgbClr val="F5F5F5"/>
          </a:solidFill>
          <a:ln w="12700">
            <a:solidFill>
              <a:srgbClr val="E0E0E0"/>
            </a:solidFill>
            <a:prstDash val="solid"/>
          </a:ln>
        </p:spPr>
      </p:sp>
      <p:sp>
        <p:nvSpPr>
          <p:cNvPr id="9" name="Shape 11">
            <a:extLst>
              <a:ext uri="{FF2B5EF4-FFF2-40B4-BE49-F238E27FC236}">
                <a16:creationId xmlns:a16="http://schemas.microsoft.com/office/drawing/2014/main" id="{72191C9E-5AD9-1D27-8054-0CDC728A94C1}"/>
              </a:ext>
            </a:extLst>
          </p:cNvPr>
          <p:cNvSpPr/>
          <p:nvPr/>
        </p:nvSpPr>
        <p:spPr>
          <a:xfrm>
            <a:off x="4635693" y="1312164"/>
            <a:ext cx="2011680" cy="804672"/>
          </a:xfrm>
          <a:prstGeom prst="rect">
            <a:avLst/>
          </a:prstGeom>
          <a:solidFill>
            <a:srgbClr val="CC0000"/>
          </a:solidFill>
          <a:ln w="12700">
            <a:solidFill>
              <a:srgbClr val="CC0000"/>
            </a:solidFill>
            <a:prstDash val="solid"/>
          </a:ln>
        </p:spPr>
        <p:txBody>
          <a:bodyPr/>
          <a:lstStyle/>
          <a:p>
            <a:endParaRPr lang="en-IN" dirty="0"/>
          </a:p>
        </p:txBody>
      </p:sp>
      <p:sp>
        <p:nvSpPr>
          <p:cNvPr id="10" name="Shape 14">
            <a:extLst>
              <a:ext uri="{FF2B5EF4-FFF2-40B4-BE49-F238E27FC236}">
                <a16:creationId xmlns:a16="http://schemas.microsoft.com/office/drawing/2014/main" id="{2986723D-977B-2A76-728A-B95E6AB55A0B}"/>
              </a:ext>
            </a:extLst>
          </p:cNvPr>
          <p:cNvSpPr/>
          <p:nvPr/>
        </p:nvSpPr>
        <p:spPr>
          <a:xfrm>
            <a:off x="6830252" y="1312164"/>
            <a:ext cx="2108007" cy="804672"/>
          </a:xfrm>
          <a:prstGeom prst="rect">
            <a:avLst/>
          </a:prstGeom>
          <a:solidFill>
            <a:srgbClr val="F5F5F5"/>
          </a:solidFill>
          <a:ln w="12700">
            <a:solidFill>
              <a:srgbClr val="E0E0E0"/>
            </a:solidFill>
            <a:prstDash val="solid"/>
          </a:ln>
        </p:spPr>
      </p:sp>
      <p:sp>
        <p:nvSpPr>
          <p:cNvPr id="11" name="Text 6">
            <a:extLst>
              <a:ext uri="{FF2B5EF4-FFF2-40B4-BE49-F238E27FC236}">
                <a16:creationId xmlns:a16="http://schemas.microsoft.com/office/drawing/2014/main" id="{8DE829BC-54D0-E619-B93C-B54596AB664B}"/>
              </a:ext>
            </a:extLst>
          </p:cNvPr>
          <p:cNvSpPr/>
          <p:nvPr/>
        </p:nvSpPr>
        <p:spPr>
          <a:xfrm>
            <a:off x="302067" y="1312164"/>
            <a:ext cx="2011680" cy="710946"/>
          </a:xfrm>
          <a:prstGeom prst="rect">
            <a:avLst/>
          </a:prstGeom>
          <a:noFill/>
          <a:ln/>
        </p:spPr>
        <p:txBody>
          <a:bodyPr wrap="square" rtlCol="0" anchor="ctr"/>
          <a:lstStyle/>
          <a:p>
            <a:pPr marL="0" indent="0" algn="ctr">
              <a:lnSpc>
                <a:spcPct val="150000"/>
              </a:lnSpc>
              <a:buNone/>
            </a:pPr>
            <a:r>
              <a:rPr lang="en-US" sz="2000" b="1" dirty="0">
                <a:solidFill>
                  <a:srgbClr val="B22222"/>
                </a:solidFill>
                <a:latin typeface="Arial Black" pitchFamily="34" charset="0"/>
                <a:ea typeface="Arial Black" pitchFamily="34" charset="-122"/>
                <a:cs typeface="Arial Black" pitchFamily="34" charset="-120"/>
              </a:rPr>
              <a:t>89.2%</a:t>
            </a:r>
          </a:p>
          <a:p>
            <a:pPr marL="0" indent="0" algn="ctr">
              <a:lnSpc>
                <a:spcPct val="150000"/>
              </a:lnSpc>
              <a:buNone/>
            </a:pPr>
            <a:r>
              <a:rPr lang="en-US" sz="1200" dirty="0"/>
              <a:t>CNN Accuracy | F1: 0.88</a:t>
            </a:r>
          </a:p>
        </p:txBody>
      </p:sp>
      <p:sp>
        <p:nvSpPr>
          <p:cNvPr id="12" name="Text 6">
            <a:extLst>
              <a:ext uri="{FF2B5EF4-FFF2-40B4-BE49-F238E27FC236}">
                <a16:creationId xmlns:a16="http://schemas.microsoft.com/office/drawing/2014/main" id="{ADC5DB6C-27A6-084E-323C-16EF4AEDFD2D}"/>
              </a:ext>
            </a:extLst>
          </p:cNvPr>
          <p:cNvSpPr/>
          <p:nvPr/>
        </p:nvSpPr>
        <p:spPr>
          <a:xfrm>
            <a:off x="2441132" y="1312164"/>
            <a:ext cx="2130867" cy="710946"/>
          </a:xfrm>
          <a:prstGeom prst="rect">
            <a:avLst/>
          </a:prstGeom>
          <a:noFill/>
          <a:ln/>
        </p:spPr>
        <p:txBody>
          <a:bodyPr wrap="square" rtlCol="0" anchor="ctr"/>
          <a:lstStyle/>
          <a:p>
            <a:pPr marL="0" indent="0" algn="ctr">
              <a:lnSpc>
                <a:spcPct val="150000"/>
              </a:lnSpc>
              <a:buNone/>
            </a:pPr>
            <a:r>
              <a:rPr lang="en-US" sz="2000" b="1" dirty="0">
                <a:solidFill>
                  <a:srgbClr val="B22222"/>
                </a:solidFill>
                <a:latin typeface="Arial Black" pitchFamily="34" charset="0"/>
                <a:ea typeface="Arial Black" pitchFamily="34" charset="-122"/>
                <a:cs typeface="Arial Black" pitchFamily="34" charset="-120"/>
              </a:rPr>
              <a:t>91.0%</a:t>
            </a:r>
          </a:p>
          <a:p>
            <a:pPr marL="0" indent="0" algn="ctr">
              <a:lnSpc>
                <a:spcPct val="150000"/>
              </a:lnSpc>
              <a:buNone/>
            </a:pPr>
            <a:r>
              <a:rPr lang="en-US" sz="1200" dirty="0" err="1"/>
              <a:t>CapsNet</a:t>
            </a:r>
            <a:r>
              <a:rPr lang="en-US" sz="1200" dirty="0"/>
              <a:t> Accuracy | F1: 0.89</a:t>
            </a:r>
          </a:p>
        </p:txBody>
      </p:sp>
      <p:sp>
        <p:nvSpPr>
          <p:cNvPr id="13" name="Text 6">
            <a:extLst>
              <a:ext uri="{FF2B5EF4-FFF2-40B4-BE49-F238E27FC236}">
                <a16:creationId xmlns:a16="http://schemas.microsoft.com/office/drawing/2014/main" id="{D3C65DE7-2764-7D61-6302-42DD8D4CB015}"/>
              </a:ext>
            </a:extLst>
          </p:cNvPr>
          <p:cNvSpPr/>
          <p:nvPr/>
        </p:nvSpPr>
        <p:spPr>
          <a:xfrm>
            <a:off x="4635693" y="1312164"/>
            <a:ext cx="2011680" cy="710946"/>
          </a:xfrm>
          <a:prstGeom prst="rect">
            <a:avLst/>
          </a:prstGeom>
          <a:noFill/>
          <a:ln/>
        </p:spPr>
        <p:txBody>
          <a:bodyPr wrap="square" rtlCol="0" anchor="ctr"/>
          <a:lstStyle/>
          <a:p>
            <a:pPr marL="0" indent="0" algn="ctr">
              <a:lnSpc>
                <a:spcPct val="150000"/>
              </a:lnSpc>
              <a:buNone/>
            </a:pPr>
            <a:r>
              <a:rPr lang="en-US" sz="2000" b="1" dirty="0">
                <a:solidFill>
                  <a:schemeClr val="bg1"/>
                </a:solidFill>
                <a:latin typeface="Arial Black" pitchFamily="34" charset="0"/>
                <a:ea typeface="Arial Black" pitchFamily="34" charset="-122"/>
                <a:cs typeface="Arial Black" pitchFamily="34" charset="-120"/>
              </a:rPr>
              <a:t>94.3%</a:t>
            </a:r>
          </a:p>
          <a:p>
            <a:pPr marL="0" indent="0" algn="ctr">
              <a:lnSpc>
                <a:spcPct val="150000"/>
              </a:lnSpc>
              <a:buNone/>
            </a:pPr>
            <a:r>
              <a:rPr lang="en-US" sz="1200" dirty="0">
                <a:solidFill>
                  <a:schemeClr val="bg1"/>
                </a:solidFill>
              </a:rPr>
              <a:t>Hybrid Accuracy | F1: 0.93</a:t>
            </a:r>
          </a:p>
        </p:txBody>
      </p:sp>
      <p:sp>
        <p:nvSpPr>
          <p:cNvPr id="14" name="Text 6">
            <a:extLst>
              <a:ext uri="{FF2B5EF4-FFF2-40B4-BE49-F238E27FC236}">
                <a16:creationId xmlns:a16="http://schemas.microsoft.com/office/drawing/2014/main" id="{6A4B28BE-9381-E300-05D5-079D6858A410}"/>
              </a:ext>
            </a:extLst>
          </p:cNvPr>
          <p:cNvSpPr/>
          <p:nvPr/>
        </p:nvSpPr>
        <p:spPr>
          <a:xfrm>
            <a:off x="6738815" y="1312164"/>
            <a:ext cx="2292543" cy="710946"/>
          </a:xfrm>
          <a:prstGeom prst="rect">
            <a:avLst/>
          </a:prstGeom>
          <a:noFill/>
          <a:ln/>
        </p:spPr>
        <p:txBody>
          <a:bodyPr wrap="square" rtlCol="0" anchor="ctr"/>
          <a:lstStyle/>
          <a:p>
            <a:pPr marL="0" indent="0" algn="ctr">
              <a:lnSpc>
                <a:spcPct val="150000"/>
              </a:lnSpc>
              <a:buNone/>
            </a:pPr>
            <a:r>
              <a:rPr lang="en-US" sz="2000" b="1" dirty="0">
                <a:solidFill>
                  <a:srgbClr val="B22222"/>
                </a:solidFill>
                <a:latin typeface="Arial Black" pitchFamily="34" charset="0"/>
                <a:ea typeface="Arial Black" pitchFamily="34" charset="-122"/>
                <a:cs typeface="Arial Black" pitchFamily="34" charset="-120"/>
              </a:rPr>
              <a:t>91.5%</a:t>
            </a:r>
          </a:p>
          <a:p>
            <a:pPr marL="0" indent="0" algn="ctr">
              <a:lnSpc>
                <a:spcPct val="150000"/>
              </a:lnSpc>
              <a:buNone/>
            </a:pPr>
            <a:r>
              <a:rPr lang="en-US" sz="1200" dirty="0"/>
              <a:t>Cross-Dataset | Generalization</a:t>
            </a:r>
          </a:p>
        </p:txBody>
      </p:sp>
    </p:spTree>
    <p:extLst>
      <p:ext uri="{BB962C8B-B14F-4D97-AF65-F5344CB8AC3E}">
        <p14:creationId xmlns:p14="http://schemas.microsoft.com/office/powerpoint/2010/main" val="35050806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9D621-7EBA-110C-3184-F23B3E89957A}"/>
              </a:ext>
            </a:extLst>
          </p:cNvPr>
          <p:cNvSpPr>
            <a:spLocks noGrp="1"/>
          </p:cNvSpPr>
          <p:nvPr>
            <p:ph type="title"/>
          </p:nvPr>
        </p:nvSpPr>
        <p:spPr>
          <a:xfrm>
            <a:off x="457200" y="0"/>
            <a:ext cx="5486040" cy="914040"/>
          </a:xfrm>
        </p:spPr>
        <p:txBody>
          <a:bodyPr/>
          <a:lstStyle/>
          <a:p>
            <a:pPr algn="ctr"/>
            <a:r>
              <a:rPr lang="en-US" sz="3200" b="1" dirty="0">
                <a:latin typeface="Times New Roman" panose="02020603050405020304" pitchFamily="18" charset="0"/>
                <a:cs typeface="Times New Roman" panose="02020603050405020304" pitchFamily="18" charset="0"/>
              </a:rPr>
              <a:t>Results</a:t>
            </a:r>
            <a:endParaRPr lang="en-IN" sz="3200" b="1" dirty="0">
              <a:latin typeface="Times New Roman" panose="02020603050405020304" pitchFamily="18" charset="0"/>
              <a:cs typeface="Times New Roman" panose="02020603050405020304" pitchFamily="18" charset="0"/>
            </a:endParaRPr>
          </a:p>
        </p:txBody>
      </p:sp>
      <p:graphicFrame>
        <p:nvGraphicFramePr>
          <p:cNvPr id="4" name="Chart 0">
            <a:extLst>
              <a:ext uri="{FF2B5EF4-FFF2-40B4-BE49-F238E27FC236}">
                <a16:creationId xmlns:a16="http://schemas.microsoft.com/office/drawing/2014/main" id="{18F7B7FB-8D43-9C54-833C-E50E24E94637}"/>
              </a:ext>
            </a:extLst>
          </p:cNvPr>
          <p:cNvGraphicFramePr/>
          <p:nvPr>
            <p:extLst>
              <p:ext uri="{D42A27DB-BD31-4B8C-83A1-F6EECF244321}">
                <p14:modId xmlns:p14="http://schemas.microsoft.com/office/powerpoint/2010/main" val="732873928"/>
              </p:ext>
            </p:extLst>
          </p:nvPr>
        </p:nvGraphicFramePr>
        <p:xfrm>
          <a:off x="4697730" y="1803654"/>
          <a:ext cx="4069080" cy="2560320"/>
        </p:xfrm>
        <a:graphic>
          <a:graphicData uri="http://schemas.openxmlformats.org/drawingml/2006/chart">
            <c:chart xmlns:c="http://schemas.openxmlformats.org/drawingml/2006/chart" xmlns:r="http://schemas.openxmlformats.org/officeDocument/2006/relationships" r:id="rId2"/>
          </a:graphicData>
        </a:graphic>
      </p:graphicFrame>
      <p:sp>
        <p:nvSpPr>
          <p:cNvPr id="5" name="Shape 26">
            <a:extLst>
              <a:ext uri="{FF2B5EF4-FFF2-40B4-BE49-F238E27FC236}">
                <a16:creationId xmlns:a16="http://schemas.microsoft.com/office/drawing/2014/main" id="{6785EA62-0165-0D3D-5060-F0D4087C42AA}"/>
              </a:ext>
            </a:extLst>
          </p:cNvPr>
          <p:cNvSpPr/>
          <p:nvPr/>
        </p:nvSpPr>
        <p:spPr>
          <a:xfrm>
            <a:off x="4697730" y="1456182"/>
            <a:ext cx="4069080" cy="347472"/>
          </a:xfrm>
          <a:prstGeom prst="rect">
            <a:avLst/>
          </a:prstGeom>
          <a:solidFill>
            <a:srgbClr val="CC0000"/>
          </a:solidFill>
          <a:ln w="12700">
            <a:solidFill>
              <a:srgbClr val="CC0000"/>
            </a:solidFill>
            <a:prstDash val="solid"/>
          </a:ln>
        </p:spPr>
        <p:txBody>
          <a:bodyPr/>
          <a:lstStyle/>
          <a:p>
            <a:pPr algn="ctr"/>
            <a:r>
              <a:rPr lang="en-US" sz="1600" b="1" dirty="0">
                <a:solidFill>
                  <a:schemeClr val="bg1"/>
                </a:solidFill>
                <a:latin typeface="Times New Roman" panose="02020603050405020304" pitchFamily="18" charset="0"/>
                <a:cs typeface="Times New Roman" panose="02020603050405020304" pitchFamily="18" charset="0"/>
              </a:rPr>
              <a:t>Feature Importance Analysis</a:t>
            </a:r>
            <a:endParaRPr lang="en-IN" sz="1600" b="1" dirty="0">
              <a:solidFill>
                <a:schemeClr val="bg1"/>
              </a:solidFill>
              <a:latin typeface="Times New Roman" panose="02020603050405020304" pitchFamily="18" charset="0"/>
              <a:cs typeface="Times New Roman" panose="02020603050405020304" pitchFamily="18" charset="0"/>
            </a:endParaRPr>
          </a:p>
        </p:txBody>
      </p:sp>
      <p:sp>
        <p:nvSpPr>
          <p:cNvPr id="6" name="Shape 7">
            <a:extLst>
              <a:ext uri="{FF2B5EF4-FFF2-40B4-BE49-F238E27FC236}">
                <a16:creationId xmlns:a16="http://schemas.microsoft.com/office/drawing/2014/main" id="{C26A42FE-C3ED-4E5F-5AA9-1EA58B92A717}"/>
              </a:ext>
            </a:extLst>
          </p:cNvPr>
          <p:cNvSpPr/>
          <p:nvPr/>
        </p:nvSpPr>
        <p:spPr>
          <a:xfrm>
            <a:off x="377190" y="1803654"/>
            <a:ext cx="1371600" cy="731520"/>
          </a:xfrm>
          <a:prstGeom prst="rect">
            <a:avLst/>
          </a:prstGeom>
          <a:solidFill>
            <a:srgbClr val="DDDDDD"/>
          </a:solidFill>
          <a:ln w="12700">
            <a:solidFill>
              <a:srgbClr val="E0E0E0"/>
            </a:solidFill>
            <a:prstDash val="solid"/>
          </a:ln>
        </p:spPr>
        <p:txBody>
          <a:bodyPr/>
          <a:lstStyle/>
          <a:p>
            <a:endParaRPr lang="en-IN" dirty="0"/>
          </a:p>
        </p:txBody>
      </p:sp>
      <p:sp>
        <p:nvSpPr>
          <p:cNvPr id="7" name="Shape 7">
            <a:extLst>
              <a:ext uri="{FF2B5EF4-FFF2-40B4-BE49-F238E27FC236}">
                <a16:creationId xmlns:a16="http://schemas.microsoft.com/office/drawing/2014/main" id="{844299EF-551E-8B6D-4524-00C60E7B16EF}"/>
              </a:ext>
            </a:extLst>
          </p:cNvPr>
          <p:cNvSpPr/>
          <p:nvPr/>
        </p:nvSpPr>
        <p:spPr>
          <a:xfrm>
            <a:off x="1748790" y="1803654"/>
            <a:ext cx="1371600" cy="731520"/>
          </a:xfrm>
          <a:prstGeom prst="rect">
            <a:avLst/>
          </a:prstGeom>
          <a:solidFill>
            <a:srgbClr val="DDDDDD"/>
          </a:solidFill>
          <a:ln w="12700">
            <a:solidFill>
              <a:srgbClr val="E0E0E0"/>
            </a:solidFill>
            <a:prstDash val="solid"/>
          </a:ln>
        </p:spPr>
        <p:txBody>
          <a:bodyPr/>
          <a:lstStyle/>
          <a:p>
            <a:pPr algn="ctr">
              <a:lnSpc>
                <a:spcPct val="250000"/>
              </a:lnSpc>
            </a:pPr>
            <a:r>
              <a:rPr lang="en-US" sz="1400" dirty="0">
                <a:latin typeface="Times New Roman" panose="02020603050405020304" pitchFamily="18" charset="0"/>
                <a:cs typeface="Times New Roman" panose="02020603050405020304" pitchFamily="18" charset="0"/>
              </a:rPr>
              <a:t>Predicted: Real</a:t>
            </a:r>
            <a:endParaRPr lang="en-IN" sz="1400" dirty="0">
              <a:latin typeface="Times New Roman" panose="02020603050405020304" pitchFamily="18" charset="0"/>
              <a:cs typeface="Times New Roman" panose="02020603050405020304" pitchFamily="18" charset="0"/>
            </a:endParaRPr>
          </a:p>
        </p:txBody>
      </p:sp>
      <p:sp>
        <p:nvSpPr>
          <p:cNvPr id="8" name="Shape 7">
            <a:extLst>
              <a:ext uri="{FF2B5EF4-FFF2-40B4-BE49-F238E27FC236}">
                <a16:creationId xmlns:a16="http://schemas.microsoft.com/office/drawing/2014/main" id="{A6DA207C-B28B-1C02-10E6-F71BB0EC8493}"/>
              </a:ext>
            </a:extLst>
          </p:cNvPr>
          <p:cNvSpPr/>
          <p:nvPr/>
        </p:nvSpPr>
        <p:spPr>
          <a:xfrm>
            <a:off x="377190" y="2535174"/>
            <a:ext cx="1371600" cy="731520"/>
          </a:xfrm>
          <a:prstGeom prst="rect">
            <a:avLst/>
          </a:prstGeom>
          <a:solidFill>
            <a:srgbClr val="DDDDDD"/>
          </a:solidFill>
          <a:ln w="12700">
            <a:solidFill>
              <a:srgbClr val="E0E0E0"/>
            </a:solidFill>
            <a:prstDash val="solid"/>
          </a:ln>
        </p:spPr>
        <p:txBody>
          <a:bodyPr/>
          <a:lstStyle/>
          <a:p>
            <a:pPr algn="ctr">
              <a:lnSpc>
                <a:spcPct val="250000"/>
              </a:lnSpc>
            </a:pPr>
            <a:r>
              <a:rPr lang="en-US" sz="1400" dirty="0">
                <a:latin typeface="Times New Roman" panose="02020603050405020304" pitchFamily="18" charset="0"/>
                <a:cs typeface="Times New Roman" panose="02020603050405020304" pitchFamily="18" charset="0"/>
              </a:rPr>
              <a:t>Actual: Real</a:t>
            </a:r>
            <a:endParaRPr lang="en-IN" sz="1400" dirty="0">
              <a:latin typeface="Times New Roman" panose="02020603050405020304" pitchFamily="18" charset="0"/>
              <a:cs typeface="Times New Roman" panose="02020603050405020304" pitchFamily="18" charset="0"/>
            </a:endParaRPr>
          </a:p>
        </p:txBody>
      </p:sp>
      <p:sp>
        <p:nvSpPr>
          <p:cNvPr id="9" name="Shape 7">
            <a:extLst>
              <a:ext uri="{FF2B5EF4-FFF2-40B4-BE49-F238E27FC236}">
                <a16:creationId xmlns:a16="http://schemas.microsoft.com/office/drawing/2014/main" id="{DBDB4481-1362-C655-A1C1-8FDD3A587EB6}"/>
              </a:ext>
            </a:extLst>
          </p:cNvPr>
          <p:cNvSpPr/>
          <p:nvPr/>
        </p:nvSpPr>
        <p:spPr>
          <a:xfrm>
            <a:off x="377190" y="3266694"/>
            <a:ext cx="1371600" cy="731520"/>
          </a:xfrm>
          <a:prstGeom prst="rect">
            <a:avLst/>
          </a:prstGeom>
          <a:solidFill>
            <a:srgbClr val="DDDDDD"/>
          </a:solidFill>
          <a:ln w="12700">
            <a:solidFill>
              <a:srgbClr val="E0E0E0"/>
            </a:solidFill>
            <a:prstDash val="solid"/>
          </a:ln>
        </p:spPr>
        <p:txBody>
          <a:bodyPr/>
          <a:lstStyle/>
          <a:p>
            <a:pPr algn="ctr">
              <a:lnSpc>
                <a:spcPct val="250000"/>
              </a:lnSpc>
            </a:pPr>
            <a:r>
              <a:rPr lang="en-US" sz="1400" dirty="0">
                <a:latin typeface="Times New Roman" panose="02020603050405020304" pitchFamily="18" charset="0"/>
                <a:cs typeface="Times New Roman" panose="02020603050405020304" pitchFamily="18" charset="0"/>
              </a:rPr>
              <a:t>Actual: Fake</a:t>
            </a:r>
            <a:endParaRPr lang="en-IN" sz="1400" dirty="0">
              <a:latin typeface="Times New Roman" panose="02020603050405020304" pitchFamily="18" charset="0"/>
              <a:cs typeface="Times New Roman" panose="02020603050405020304" pitchFamily="18" charset="0"/>
            </a:endParaRPr>
          </a:p>
        </p:txBody>
      </p:sp>
      <p:sp>
        <p:nvSpPr>
          <p:cNvPr id="10" name="Shape 7">
            <a:extLst>
              <a:ext uri="{FF2B5EF4-FFF2-40B4-BE49-F238E27FC236}">
                <a16:creationId xmlns:a16="http://schemas.microsoft.com/office/drawing/2014/main" id="{C78C007F-1B13-6EB9-CCBC-2CE22B2DCB02}"/>
              </a:ext>
            </a:extLst>
          </p:cNvPr>
          <p:cNvSpPr/>
          <p:nvPr/>
        </p:nvSpPr>
        <p:spPr>
          <a:xfrm>
            <a:off x="3120390" y="1803654"/>
            <a:ext cx="1371600" cy="731520"/>
          </a:xfrm>
          <a:prstGeom prst="rect">
            <a:avLst/>
          </a:prstGeom>
          <a:solidFill>
            <a:srgbClr val="DDDDDD"/>
          </a:solidFill>
          <a:ln w="12700">
            <a:solidFill>
              <a:srgbClr val="E0E0E0"/>
            </a:solidFill>
            <a:prstDash val="solid"/>
          </a:ln>
        </p:spPr>
        <p:txBody>
          <a:bodyPr/>
          <a:lstStyle/>
          <a:p>
            <a:pPr algn="ctr">
              <a:lnSpc>
                <a:spcPct val="250000"/>
              </a:lnSpc>
            </a:pPr>
            <a:r>
              <a:rPr lang="en-US" sz="1400" dirty="0">
                <a:latin typeface="Times New Roman" panose="02020603050405020304" pitchFamily="18" charset="0"/>
                <a:cs typeface="Times New Roman" panose="02020603050405020304" pitchFamily="18" charset="0"/>
              </a:rPr>
              <a:t>Predicted: Fake</a:t>
            </a:r>
            <a:endParaRPr lang="en-IN" sz="1400" dirty="0">
              <a:latin typeface="Times New Roman" panose="02020603050405020304" pitchFamily="18" charset="0"/>
              <a:cs typeface="Times New Roman" panose="02020603050405020304" pitchFamily="18" charset="0"/>
            </a:endParaRPr>
          </a:p>
        </p:txBody>
      </p:sp>
      <p:sp>
        <p:nvSpPr>
          <p:cNvPr id="12" name="Shape 15">
            <a:extLst>
              <a:ext uri="{FF2B5EF4-FFF2-40B4-BE49-F238E27FC236}">
                <a16:creationId xmlns:a16="http://schemas.microsoft.com/office/drawing/2014/main" id="{EECE6A84-64A9-5296-A2C3-DF386D4397D3}"/>
              </a:ext>
            </a:extLst>
          </p:cNvPr>
          <p:cNvSpPr/>
          <p:nvPr/>
        </p:nvSpPr>
        <p:spPr>
          <a:xfrm>
            <a:off x="1748791" y="2535174"/>
            <a:ext cx="1371600" cy="731520"/>
          </a:xfrm>
          <a:prstGeom prst="rect">
            <a:avLst/>
          </a:prstGeom>
          <a:solidFill>
            <a:srgbClr val="D4EDDA"/>
          </a:solidFill>
          <a:ln w="12700">
            <a:solidFill>
              <a:srgbClr val="E0E0E0"/>
            </a:solidFill>
            <a:prstDash val="solid"/>
          </a:ln>
        </p:spPr>
      </p:sp>
      <p:sp>
        <p:nvSpPr>
          <p:cNvPr id="13" name="Shape 21">
            <a:extLst>
              <a:ext uri="{FF2B5EF4-FFF2-40B4-BE49-F238E27FC236}">
                <a16:creationId xmlns:a16="http://schemas.microsoft.com/office/drawing/2014/main" id="{B2593001-4D6F-2BDD-722D-1A4723ED8420}"/>
              </a:ext>
            </a:extLst>
          </p:cNvPr>
          <p:cNvSpPr/>
          <p:nvPr/>
        </p:nvSpPr>
        <p:spPr>
          <a:xfrm>
            <a:off x="1748789" y="3275838"/>
            <a:ext cx="1371600" cy="731520"/>
          </a:xfrm>
          <a:prstGeom prst="rect">
            <a:avLst/>
          </a:prstGeom>
          <a:solidFill>
            <a:srgbClr val="F8D7DA"/>
          </a:solidFill>
          <a:ln w="12700">
            <a:solidFill>
              <a:srgbClr val="E0E0E0"/>
            </a:solidFill>
            <a:prstDash val="solid"/>
          </a:ln>
        </p:spPr>
      </p:sp>
      <p:sp>
        <p:nvSpPr>
          <p:cNvPr id="14" name="Shape 21">
            <a:extLst>
              <a:ext uri="{FF2B5EF4-FFF2-40B4-BE49-F238E27FC236}">
                <a16:creationId xmlns:a16="http://schemas.microsoft.com/office/drawing/2014/main" id="{349AECCD-7E46-B3F6-72C5-36AD6A82D35D}"/>
              </a:ext>
            </a:extLst>
          </p:cNvPr>
          <p:cNvSpPr/>
          <p:nvPr/>
        </p:nvSpPr>
        <p:spPr>
          <a:xfrm>
            <a:off x="3120390" y="2535174"/>
            <a:ext cx="1371600" cy="731520"/>
          </a:xfrm>
          <a:prstGeom prst="rect">
            <a:avLst/>
          </a:prstGeom>
          <a:solidFill>
            <a:srgbClr val="F8D7DA"/>
          </a:solidFill>
          <a:ln w="12700">
            <a:solidFill>
              <a:srgbClr val="E0E0E0"/>
            </a:solidFill>
            <a:prstDash val="solid"/>
          </a:ln>
        </p:spPr>
      </p:sp>
      <p:sp>
        <p:nvSpPr>
          <p:cNvPr id="15" name="Shape 15">
            <a:extLst>
              <a:ext uri="{FF2B5EF4-FFF2-40B4-BE49-F238E27FC236}">
                <a16:creationId xmlns:a16="http://schemas.microsoft.com/office/drawing/2014/main" id="{293E7058-9841-29B2-C96F-4B93FD4EC8B1}"/>
              </a:ext>
            </a:extLst>
          </p:cNvPr>
          <p:cNvSpPr/>
          <p:nvPr/>
        </p:nvSpPr>
        <p:spPr>
          <a:xfrm>
            <a:off x="3120390" y="3266694"/>
            <a:ext cx="1371600" cy="731520"/>
          </a:xfrm>
          <a:prstGeom prst="rect">
            <a:avLst/>
          </a:prstGeom>
          <a:solidFill>
            <a:srgbClr val="D4EDDA"/>
          </a:solidFill>
          <a:ln w="12700">
            <a:solidFill>
              <a:srgbClr val="E0E0E0"/>
            </a:solidFill>
            <a:prstDash val="solid"/>
          </a:ln>
        </p:spPr>
      </p:sp>
      <p:sp>
        <p:nvSpPr>
          <p:cNvPr id="16" name="Text 16">
            <a:extLst>
              <a:ext uri="{FF2B5EF4-FFF2-40B4-BE49-F238E27FC236}">
                <a16:creationId xmlns:a16="http://schemas.microsoft.com/office/drawing/2014/main" id="{620CEEC2-3B3C-C226-B3BA-93F1C2F5C485}"/>
              </a:ext>
            </a:extLst>
          </p:cNvPr>
          <p:cNvSpPr/>
          <p:nvPr/>
        </p:nvSpPr>
        <p:spPr>
          <a:xfrm>
            <a:off x="1748790" y="2535174"/>
            <a:ext cx="1371600" cy="731520"/>
          </a:xfrm>
          <a:prstGeom prst="rect">
            <a:avLst/>
          </a:prstGeom>
          <a:noFill/>
          <a:ln/>
        </p:spPr>
        <p:txBody>
          <a:bodyPr wrap="square" rtlCol="0" anchor="ctr"/>
          <a:lstStyle/>
          <a:p>
            <a:pPr marL="0" indent="0" algn="ctr">
              <a:buNone/>
            </a:pPr>
            <a:r>
              <a:rPr lang="en-US" sz="1400" b="1" dirty="0">
                <a:solidFill>
                  <a:srgbClr val="155724"/>
                </a:solidFill>
                <a:latin typeface="Times New Roman" pitchFamily="34" charset="0"/>
                <a:ea typeface="Times New Roman" pitchFamily="34" charset="-122"/>
                <a:cs typeface="Times New Roman" pitchFamily="34" charset="-120"/>
              </a:rPr>
              <a:t>920  ✓</a:t>
            </a:r>
            <a:endParaRPr lang="en-US" sz="1400" dirty="0"/>
          </a:p>
        </p:txBody>
      </p:sp>
      <p:sp>
        <p:nvSpPr>
          <p:cNvPr id="17" name="Text 16">
            <a:extLst>
              <a:ext uri="{FF2B5EF4-FFF2-40B4-BE49-F238E27FC236}">
                <a16:creationId xmlns:a16="http://schemas.microsoft.com/office/drawing/2014/main" id="{D018C248-DAD3-75F2-42E9-0366D695044C}"/>
              </a:ext>
            </a:extLst>
          </p:cNvPr>
          <p:cNvSpPr/>
          <p:nvPr/>
        </p:nvSpPr>
        <p:spPr>
          <a:xfrm>
            <a:off x="3120390" y="3266694"/>
            <a:ext cx="1371600" cy="731520"/>
          </a:xfrm>
          <a:prstGeom prst="rect">
            <a:avLst/>
          </a:prstGeom>
          <a:noFill/>
          <a:ln/>
        </p:spPr>
        <p:txBody>
          <a:bodyPr wrap="square" rtlCol="0" anchor="ctr"/>
          <a:lstStyle/>
          <a:p>
            <a:pPr marL="0" indent="0" algn="ctr">
              <a:buNone/>
            </a:pPr>
            <a:r>
              <a:rPr lang="en-US" sz="1400" b="1" dirty="0">
                <a:solidFill>
                  <a:srgbClr val="155724"/>
                </a:solidFill>
                <a:latin typeface="Times New Roman" pitchFamily="34" charset="0"/>
                <a:ea typeface="Times New Roman" pitchFamily="34" charset="-122"/>
                <a:cs typeface="Times New Roman" pitchFamily="34" charset="-120"/>
              </a:rPr>
              <a:t>930  ✓</a:t>
            </a:r>
            <a:endParaRPr lang="en-US" sz="1400" dirty="0"/>
          </a:p>
        </p:txBody>
      </p:sp>
      <p:sp>
        <p:nvSpPr>
          <p:cNvPr id="18" name="Text 22">
            <a:extLst>
              <a:ext uri="{FF2B5EF4-FFF2-40B4-BE49-F238E27FC236}">
                <a16:creationId xmlns:a16="http://schemas.microsoft.com/office/drawing/2014/main" id="{15EAE8D8-5B91-1D34-C3F6-907BA1CC406A}"/>
              </a:ext>
            </a:extLst>
          </p:cNvPr>
          <p:cNvSpPr/>
          <p:nvPr/>
        </p:nvSpPr>
        <p:spPr>
          <a:xfrm>
            <a:off x="1748789" y="3266694"/>
            <a:ext cx="1371600" cy="731520"/>
          </a:xfrm>
          <a:prstGeom prst="rect">
            <a:avLst/>
          </a:prstGeom>
          <a:noFill/>
          <a:ln/>
        </p:spPr>
        <p:txBody>
          <a:bodyPr wrap="square" rtlCol="0" anchor="ctr"/>
          <a:lstStyle/>
          <a:p>
            <a:pPr marL="0" indent="0" algn="ctr">
              <a:buNone/>
            </a:pPr>
            <a:r>
              <a:rPr lang="en-US" sz="1400" b="1" dirty="0">
                <a:solidFill>
                  <a:srgbClr val="721C24"/>
                </a:solidFill>
                <a:latin typeface="Times New Roman" pitchFamily="34" charset="0"/>
                <a:ea typeface="Times New Roman" pitchFamily="34" charset="-122"/>
                <a:cs typeface="Times New Roman" pitchFamily="34" charset="-120"/>
              </a:rPr>
              <a:t>70  ✗</a:t>
            </a:r>
            <a:endParaRPr lang="en-US" sz="1400" dirty="0"/>
          </a:p>
        </p:txBody>
      </p:sp>
      <p:sp>
        <p:nvSpPr>
          <p:cNvPr id="19" name="Text 22">
            <a:extLst>
              <a:ext uri="{FF2B5EF4-FFF2-40B4-BE49-F238E27FC236}">
                <a16:creationId xmlns:a16="http://schemas.microsoft.com/office/drawing/2014/main" id="{526544B9-F1F8-FBC4-E315-8B0C91B40B5B}"/>
              </a:ext>
            </a:extLst>
          </p:cNvPr>
          <p:cNvSpPr/>
          <p:nvPr/>
        </p:nvSpPr>
        <p:spPr>
          <a:xfrm>
            <a:off x="3120390" y="2535174"/>
            <a:ext cx="1371600" cy="731520"/>
          </a:xfrm>
          <a:prstGeom prst="rect">
            <a:avLst/>
          </a:prstGeom>
          <a:noFill/>
          <a:ln/>
        </p:spPr>
        <p:txBody>
          <a:bodyPr wrap="square" rtlCol="0" anchor="ctr"/>
          <a:lstStyle/>
          <a:p>
            <a:pPr marL="0" indent="0" algn="ctr">
              <a:buNone/>
            </a:pPr>
            <a:r>
              <a:rPr lang="en-US" sz="1400" b="1" dirty="0">
                <a:solidFill>
                  <a:srgbClr val="721C24"/>
                </a:solidFill>
                <a:latin typeface="Times New Roman" pitchFamily="34" charset="0"/>
                <a:ea typeface="Times New Roman" pitchFamily="34" charset="-122"/>
                <a:cs typeface="Times New Roman" pitchFamily="34" charset="-120"/>
              </a:rPr>
              <a:t>80  ✗</a:t>
            </a:r>
            <a:endParaRPr lang="en-US" sz="1400" dirty="0"/>
          </a:p>
        </p:txBody>
      </p:sp>
      <p:sp>
        <p:nvSpPr>
          <p:cNvPr id="20" name="Shape 5">
            <a:extLst>
              <a:ext uri="{FF2B5EF4-FFF2-40B4-BE49-F238E27FC236}">
                <a16:creationId xmlns:a16="http://schemas.microsoft.com/office/drawing/2014/main" id="{38386B67-7280-F039-CAE1-0B9500E85E68}"/>
              </a:ext>
            </a:extLst>
          </p:cNvPr>
          <p:cNvSpPr/>
          <p:nvPr/>
        </p:nvSpPr>
        <p:spPr>
          <a:xfrm>
            <a:off x="377190" y="1456182"/>
            <a:ext cx="4114800" cy="347472"/>
          </a:xfrm>
          <a:prstGeom prst="rect">
            <a:avLst/>
          </a:prstGeom>
          <a:solidFill>
            <a:srgbClr val="CC0000"/>
          </a:solidFill>
          <a:ln w="12700">
            <a:solidFill>
              <a:srgbClr val="CC0000"/>
            </a:solidFill>
            <a:prstDash val="solid"/>
          </a:ln>
        </p:spPr>
        <p:txBody>
          <a:bodyPr/>
          <a:lstStyle/>
          <a:p>
            <a:pPr algn="ctr"/>
            <a:r>
              <a:rPr lang="en-US" sz="1600" b="1" dirty="0">
                <a:solidFill>
                  <a:schemeClr val="bg1"/>
                </a:solidFill>
              </a:rPr>
              <a:t>Confusion Matrix</a:t>
            </a:r>
            <a:endParaRPr lang="en-IN" sz="1600" b="1" dirty="0">
              <a:solidFill>
                <a:schemeClr val="bg1"/>
              </a:solidFill>
            </a:endParaRPr>
          </a:p>
        </p:txBody>
      </p:sp>
      <p:sp>
        <p:nvSpPr>
          <p:cNvPr id="21" name="Text 25">
            <a:extLst>
              <a:ext uri="{FF2B5EF4-FFF2-40B4-BE49-F238E27FC236}">
                <a16:creationId xmlns:a16="http://schemas.microsoft.com/office/drawing/2014/main" id="{AA5C4649-619D-63D6-6F99-8E83DD25BD68}"/>
              </a:ext>
            </a:extLst>
          </p:cNvPr>
          <p:cNvSpPr/>
          <p:nvPr/>
        </p:nvSpPr>
        <p:spPr>
          <a:xfrm>
            <a:off x="228599" y="4322827"/>
            <a:ext cx="4366261" cy="347472"/>
          </a:xfrm>
          <a:prstGeom prst="rect">
            <a:avLst/>
          </a:prstGeom>
          <a:noFill/>
          <a:ln/>
        </p:spPr>
        <p:txBody>
          <a:bodyPr wrap="square" rtlCol="0" anchor="ctr"/>
          <a:lstStyle/>
          <a:p>
            <a:pPr marL="0" indent="0" algn="ctr">
              <a:buNone/>
            </a:pPr>
            <a:r>
              <a:rPr lang="en-US" sz="1400" dirty="0">
                <a:solidFill>
                  <a:srgbClr val="555555"/>
                </a:solidFill>
                <a:latin typeface="Times New Roman" panose="02020603050405020304" pitchFamily="18" charset="0"/>
                <a:ea typeface="Times New Roman" pitchFamily="34" charset="-122"/>
                <a:cs typeface="Times New Roman" panose="02020603050405020304" pitchFamily="18" charset="0"/>
              </a:rPr>
              <a:t>True Positive Rate: 92.0%   |   True Negative Rate: 93.0%</a:t>
            </a:r>
            <a:endParaRPr lang="en-US" sz="1400" dirty="0">
              <a:latin typeface="Times New Roman" panose="02020603050405020304" pitchFamily="18" charset="0"/>
              <a:cs typeface="Times New Roman" panose="02020603050405020304" pitchFamily="18" charset="0"/>
            </a:endParaRPr>
          </a:p>
        </p:txBody>
      </p:sp>
      <p:sp>
        <p:nvSpPr>
          <p:cNvPr id="22" name="Text 28">
            <a:extLst>
              <a:ext uri="{FF2B5EF4-FFF2-40B4-BE49-F238E27FC236}">
                <a16:creationId xmlns:a16="http://schemas.microsoft.com/office/drawing/2014/main" id="{18ABC167-105C-9693-1ABB-88868C85F81E}"/>
              </a:ext>
            </a:extLst>
          </p:cNvPr>
          <p:cNvSpPr/>
          <p:nvPr/>
        </p:nvSpPr>
        <p:spPr>
          <a:xfrm>
            <a:off x="4697730" y="4670299"/>
            <a:ext cx="4069080" cy="502920"/>
          </a:xfrm>
          <a:prstGeom prst="rect">
            <a:avLst/>
          </a:prstGeom>
          <a:noFill/>
          <a:ln/>
        </p:spPr>
        <p:txBody>
          <a:bodyPr wrap="square" rtlCol="0" anchor="ctr"/>
          <a:lstStyle/>
          <a:p>
            <a:pPr marL="0" indent="0" algn="ctr">
              <a:buNone/>
            </a:pPr>
            <a:r>
              <a:rPr lang="en-US" sz="1400" dirty="0">
                <a:solidFill>
                  <a:srgbClr val="555555"/>
                </a:solidFill>
                <a:latin typeface="Times New Roman" pitchFamily="34" charset="0"/>
                <a:ea typeface="Times New Roman" pitchFamily="34" charset="-122"/>
                <a:cs typeface="Times New Roman" pitchFamily="34" charset="-120"/>
              </a:rPr>
              <a:t>Texture &amp; Facial Geometry are the most discriminative features for detecting deepfake manipulations.</a:t>
            </a:r>
            <a:endParaRPr lang="en-US" sz="1400" dirty="0"/>
          </a:p>
        </p:txBody>
      </p:sp>
    </p:spTree>
    <p:extLst>
      <p:ext uri="{BB962C8B-B14F-4D97-AF65-F5344CB8AC3E}">
        <p14:creationId xmlns:p14="http://schemas.microsoft.com/office/powerpoint/2010/main" val="16940048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4C979-85DB-0872-10F6-23B2E163E9F4}"/>
              </a:ext>
            </a:extLst>
          </p:cNvPr>
          <p:cNvSpPr>
            <a:spLocks noGrp="1"/>
          </p:cNvSpPr>
          <p:nvPr>
            <p:ph type="title"/>
          </p:nvPr>
        </p:nvSpPr>
        <p:spPr>
          <a:xfrm>
            <a:off x="228600" y="0"/>
            <a:ext cx="6160770" cy="914040"/>
          </a:xfrm>
        </p:spPr>
        <p:txBody>
          <a:bodyPr/>
          <a:lstStyle/>
          <a:p>
            <a:pPr algn="ctr"/>
            <a:r>
              <a:rPr lang="en-US" sz="3200" b="1" dirty="0">
                <a:latin typeface="Times New Roman" panose="02020603050405020304" pitchFamily="18" charset="0"/>
                <a:cs typeface="Times New Roman" panose="02020603050405020304" pitchFamily="18" charset="0"/>
              </a:rPr>
              <a:t>Advantages of the Proposed Model</a:t>
            </a:r>
            <a:endParaRPr lang="en-IN" sz="32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F6D73DDC-49A6-98D9-A80F-EAD97ACF3F85}"/>
              </a:ext>
            </a:extLst>
          </p:cNvPr>
          <p:cNvSpPr>
            <a:spLocks noGrp="1"/>
          </p:cNvSpPr>
          <p:nvPr>
            <p:ph type="subTitle"/>
          </p:nvPr>
        </p:nvSpPr>
        <p:spPr>
          <a:xfrm>
            <a:off x="457200" y="1234440"/>
            <a:ext cx="8229240" cy="5006104"/>
          </a:xfrm>
        </p:spPr>
        <p:txBody>
          <a:bodyPr/>
          <a:lstStyle/>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Superior Accuracy: </a:t>
            </a:r>
            <a:r>
              <a:rPr lang="en-US" sz="1600" dirty="0">
                <a:latin typeface="Times New Roman" panose="02020603050405020304" pitchFamily="18" charset="0"/>
                <a:cs typeface="Times New Roman" panose="02020603050405020304" pitchFamily="18" charset="0"/>
              </a:rPr>
              <a:t>94.3% accuracy and 0.93 F1-score, outperforming standalone CNN (89.2%) and </a:t>
            </a:r>
            <a:r>
              <a:rPr lang="en-US" sz="1600" dirty="0" err="1">
                <a:latin typeface="Times New Roman" panose="02020603050405020304" pitchFamily="18" charset="0"/>
                <a:cs typeface="Times New Roman" panose="02020603050405020304" pitchFamily="18" charset="0"/>
              </a:rPr>
              <a:t>CapsNet</a:t>
            </a:r>
            <a:r>
              <a:rPr lang="en-US" sz="1600" dirty="0">
                <a:latin typeface="Times New Roman" panose="02020603050405020304" pitchFamily="18" charset="0"/>
                <a:cs typeface="Times New Roman" panose="02020603050405020304" pitchFamily="18" charset="0"/>
              </a:rPr>
              <a:t> (91.0%).</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Cross-Dataset Generalization: </a:t>
            </a:r>
            <a:r>
              <a:rPr lang="en-US" sz="1600" dirty="0">
                <a:latin typeface="Times New Roman" panose="02020603050405020304" pitchFamily="18" charset="0"/>
                <a:cs typeface="Times New Roman" panose="02020603050405020304" pitchFamily="18" charset="0"/>
              </a:rPr>
              <a:t>91.5% accuracy on unseen Celeb-DF data, demonstrating adaptability beyond training distributions.</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Data Augmentation Resilience: </a:t>
            </a:r>
            <a:r>
              <a:rPr lang="en-US" sz="1600" dirty="0">
                <a:latin typeface="Times New Roman" panose="02020603050405020304" pitchFamily="18" charset="0"/>
                <a:cs typeface="Times New Roman" panose="02020603050405020304" pitchFamily="18" charset="0"/>
              </a:rPr>
              <a:t>Preprocessing pipeline with flips, rotations and brightness changes improves robustness to real-world variation.</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Spatial Relationship Preservation: </a:t>
            </a:r>
            <a:r>
              <a:rPr lang="en-US" sz="1600" dirty="0">
                <a:latin typeface="Times New Roman" panose="02020603050405020304" pitchFamily="18" charset="0"/>
                <a:cs typeface="Times New Roman" panose="02020603050405020304" pitchFamily="18" charset="0"/>
              </a:rPr>
              <a:t>Capsule Networks retain part-whole special hierarchies, capturing subtle structural manipulation in facial regions.</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Robust Feature Extraction: </a:t>
            </a:r>
            <a:r>
              <a:rPr lang="en-US" sz="1600" dirty="0">
                <a:latin typeface="Times New Roman" panose="02020603050405020304" pitchFamily="18" charset="0"/>
                <a:cs typeface="Times New Roman" panose="02020603050405020304" pitchFamily="18" charset="0"/>
              </a:rPr>
              <a:t>CNN layer capture multi-scale features (edges, textures, artifacts), providing rich input to the Capsule layer.</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Complementary Architecture; </a:t>
            </a:r>
            <a:r>
              <a:rPr lang="en-US" sz="1600" dirty="0">
                <a:latin typeface="Times New Roman" panose="02020603050405020304" pitchFamily="18" charset="0"/>
                <a:cs typeface="Times New Roman" panose="02020603050405020304" pitchFamily="18" charset="0"/>
              </a:rPr>
              <a:t>CNN and </a:t>
            </a:r>
            <a:r>
              <a:rPr lang="en-US" sz="1600" dirty="0" err="1">
                <a:latin typeface="Times New Roman" panose="02020603050405020304" pitchFamily="18" charset="0"/>
                <a:cs typeface="Times New Roman" panose="02020603050405020304" pitchFamily="18" charset="0"/>
              </a:rPr>
              <a:t>CapsNet</a:t>
            </a:r>
            <a:r>
              <a:rPr lang="en-US" sz="1600" dirty="0">
                <a:latin typeface="Times New Roman" panose="02020603050405020304" pitchFamily="18" charset="0"/>
                <a:cs typeface="Times New Roman" panose="02020603050405020304" pitchFamily="18" charset="0"/>
              </a:rPr>
              <a:t> work synergistically, CNN extracts what, </a:t>
            </a:r>
            <a:r>
              <a:rPr lang="en-US" sz="1600" dirty="0" err="1">
                <a:latin typeface="Times New Roman" panose="02020603050405020304" pitchFamily="18" charset="0"/>
                <a:cs typeface="Times New Roman" panose="02020603050405020304" pitchFamily="18" charset="0"/>
              </a:rPr>
              <a:t>CapsNet</a:t>
            </a:r>
            <a:r>
              <a:rPr lang="en-US" sz="1600" dirty="0">
                <a:latin typeface="Times New Roman" panose="02020603050405020304" pitchFamily="18" charset="0"/>
                <a:cs typeface="Times New Roman" panose="02020603050405020304" pitchFamily="18" charset="0"/>
              </a:rPr>
              <a:t> understands how features relate spatially.</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18409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B4CFD-CD0C-2634-BE1E-546D16563DD0}"/>
              </a:ext>
            </a:extLst>
          </p:cNvPr>
          <p:cNvSpPr>
            <a:spLocks noGrp="1"/>
          </p:cNvSpPr>
          <p:nvPr>
            <p:ph type="title"/>
          </p:nvPr>
        </p:nvSpPr>
        <p:spPr>
          <a:xfrm>
            <a:off x="365760" y="0"/>
            <a:ext cx="5486040" cy="914040"/>
          </a:xfrm>
        </p:spPr>
        <p:txBody>
          <a:bodyPr/>
          <a:lstStyle/>
          <a:p>
            <a:pPr algn="ctr"/>
            <a:r>
              <a:rPr lang="en-US" sz="3200" b="1" dirty="0">
                <a:latin typeface="Times New Roman" panose="02020603050405020304" pitchFamily="18" charset="0"/>
                <a:cs typeface="Times New Roman" panose="02020603050405020304" pitchFamily="18" charset="0"/>
              </a:rPr>
              <a:t>Limitations &amp; Future Scope</a:t>
            </a:r>
            <a:endParaRPr lang="en-IN" sz="32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7DFDC6C7-8EAF-3C22-27C1-E24C6B341AF6}"/>
              </a:ext>
            </a:extLst>
          </p:cNvPr>
          <p:cNvSpPr>
            <a:spLocks noGrp="1"/>
          </p:cNvSpPr>
          <p:nvPr>
            <p:ph type="subTitle"/>
          </p:nvPr>
        </p:nvSpPr>
        <p:spPr>
          <a:xfrm>
            <a:off x="361950" y="1677012"/>
            <a:ext cx="3886200" cy="3977280"/>
          </a:xfrm>
        </p:spPr>
        <p:txBody>
          <a:bodyPr/>
          <a:lstStyle/>
          <a:p>
            <a:pPr marL="285750" indent="-285750"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High computational cost – limits real-time deployment.</a:t>
            </a:r>
          </a:p>
          <a:p>
            <a:pPr marL="285750" indent="-285750"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Performance degrades with compression, low light, or occlusion.</a:t>
            </a:r>
          </a:p>
          <a:p>
            <a:pPr marL="285750" indent="-285750"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Struggles against next-gen deepfakes with hyper-realistic textures.</a:t>
            </a:r>
          </a:p>
          <a:p>
            <a:pPr marL="285750" indent="-285750"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Requires large, diverse, high-quality training datasets.</a:t>
            </a:r>
          </a:p>
          <a:p>
            <a:pPr marL="285750" indent="-285750"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Extensive Hyperparameter tuning needed for optimal results.</a:t>
            </a:r>
            <a:endParaRPr lang="en-IN" sz="1600" dirty="0">
              <a:latin typeface="Times New Roman" panose="02020603050405020304" pitchFamily="18" charset="0"/>
              <a:cs typeface="Times New Roman" panose="02020603050405020304" pitchFamily="18" charset="0"/>
            </a:endParaRPr>
          </a:p>
        </p:txBody>
      </p:sp>
      <p:sp>
        <p:nvSpPr>
          <p:cNvPr id="4" name="Subtitle 2">
            <a:extLst>
              <a:ext uri="{FF2B5EF4-FFF2-40B4-BE49-F238E27FC236}">
                <a16:creationId xmlns:a16="http://schemas.microsoft.com/office/drawing/2014/main" id="{2720319B-5FED-3BA9-EBA9-E1E7DE316751}"/>
              </a:ext>
            </a:extLst>
          </p:cNvPr>
          <p:cNvSpPr txBox="1">
            <a:spLocks/>
          </p:cNvSpPr>
          <p:nvPr/>
        </p:nvSpPr>
        <p:spPr>
          <a:xfrm>
            <a:off x="4895850" y="1551180"/>
            <a:ext cx="3886200" cy="3977280"/>
          </a:xfrm>
          <a:prstGeom prst="rect">
            <a:avLst/>
          </a:prstGeom>
        </p:spPr>
        <p:txBody>
          <a:bodyPr lIns="0" tIns="0" rIns="0" bIns="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endParaRPr lang="en-IN" sz="1600" dirty="0">
              <a:latin typeface="Times New Roman" panose="02020603050405020304" pitchFamily="18" charset="0"/>
              <a:cs typeface="Times New Roman" panose="02020603050405020304" pitchFamily="18" charset="0"/>
            </a:endParaRPr>
          </a:p>
        </p:txBody>
      </p:sp>
      <p:sp>
        <p:nvSpPr>
          <p:cNvPr id="5" name="Subtitle 2">
            <a:extLst>
              <a:ext uri="{FF2B5EF4-FFF2-40B4-BE49-F238E27FC236}">
                <a16:creationId xmlns:a16="http://schemas.microsoft.com/office/drawing/2014/main" id="{06EA3B55-15A4-A7B5-C880-172563601226}"/>
              </a:ext>
            </a:extLst>
          </p:cNvPr>
          <p:cNvSpPr txBox="1">
            <a:spLocks/>
          </p:cNvSpPr>
          <p:nvPr/>
        </p:nvSpPr>
        <p:spPr>
          <a:xfrm>
            <a:off x="4572000" y="1798830"/>
            <a:ext cx="3886200" cy="3977280"/>
          </a:xfrm>
          <a:prstGeom prst="rect">
            <a:avLst/>
          </a:prstGeom>
        </p:spPr>
        <p:txBody>
          <a:bodyPr lIns="0" tIns="0" rIns="0" bIns="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285750" indent="-285750" algn="just">
              <a:lnSpc>
                <a:spcPct val="150000"/>
              </a:lnSpc>
              <a:buFont typeface="Wingdings" panose="05000000000000000000" pitchFamily="2" charset="2"/>
              <a:buChar char="Ø"/>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Develop lightweight architectures for real-time mobile deployment.</a:t>
            </a:r>
          </a:p>
          <a:p>
            <a:pPr marL="285750" indent="-285750" algn="just">
              <a:lnSpc>
                <a:spcPct val="150000"/>
              </a:lnSpc>
              <a:buFont typeface="Wingdings" panose="05000000000000000000" pitchFamily="2" charset="2"/>
              <a:buChar char="Ø"/>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Integrate multimodal detection — combine audio + visual cues.</a:t>
            </a:r>
            <a:endParaRPr lang="en-US" sz="1600"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Improve robustness to adversarial deepfake generation attacks.</a:t>
            </a:r>
            <a:endParaRPr lang="en-US" sz="1600"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Explore explainable AI (XAI) for transparent detection decisions.</a:t>
            </a:r>
            <a:endParaRPr lang="en-US" sz="1600"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Extend to live-stream and social media deepfake monitoring.</a:t>
            </a:r>
            <a:endParaRPr lang="en-US" sz="16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p:txBody>
      </p:sp>
      <p:sp>
        <p:nvSpPr>
          <p:cNvPr id="8" name="Shape 5">
            <a:extLst>
              <a:ext uri="{FF2B5EF4-FFF2-40B4-BE49-F238E27FC236}">
                <a16:creationId xmlns:a16="http://schemas.microsoft.com/office/drawing/2014/main" id="{0693C23B-FA4B-1396-C933-6FD246709F76}"/>
              </a:ext>
            </a:extLst>
          </p:cNvPr>
          <p:cNvSpPr/>
          <p:nvPr/>
        </p:nvSpPr>
        <p:spPr>
          <a:xfrm>
            <a:off x="361950" y="1203708"/>
            <a:ext cx="4004310" cy="347472"/>
          </a:xfrm>
          <a:prstGeom prst="rect">
            <a:avLst/>
          </a:prstGeom>
          <a:solidFill>
            <a:srgbClr val="CC0000"/>
          </a:solidFill>
          <a:ln w="12700">
            <a:solidFill>
              <a:srgbClr val="CC0000"/>
            </a:solidFill>
            <a:prstDash val="solid"/>
          </a:ln>
        </p:spPr>
        <p:txBody>
          <a:bodyPr/>
          <a:lstStyle/>
          <a:p>
            <a:pPr algn="ctr"/>
            <a:r>
              <a:rPr lang="en-US" sz="1600" b="1" dirty="0">
                <a:solidFill>
                  <a:schemeClr val="bg1"/>
                </a:solidFill>
                <a:latin typeface="Times New Roman" panose="02020603050405020304" pitchFamily="18" charset="0"/>
                <a:cs typeface="Times New Roman" panose="02020603050405020304" pitchFamily="18" charset="0"/>
              </a:rPr>
              <a:t>Limitations</a:t>
            </a:r>
            <a:endParaRPr lang="en-IN" sz="1600" b="1" dirty="0">
              <a:solidFill>
                <a:schemeClr val="bg1"/>
              </a:solidFill>
              <a:latin typeface="Times New Roman" panose="02020603050405020304" pitchFamily="18" charset="0"/>
              <a:cs typeface="Times New Roman" panose="02020603050405020304" pitchFamily="18" charset="0"/>
            </a:endParaRPr>
          </a:p>
        </p:txBody>
      </p:sp>
      <p:sp>
        <p:nvSpPr>
          <p:cNvPr id="9" name="Shape 22">
            <a:extLst>
              <a:ext uri="{FF2B5EF4-FFF2-40B4-BE49-F238E27FC236}">
                <a16:creationId xmlns:a16="http://schemas.microsoft.com/office/drawing/2014/main" id="{98EED580-EF65-A735-AFC1-FB324EDBC60B}"/>
              </a:ext>
            </a:extLst>
          </p:cNvPr>
          <p:cNvSpPr/>
          <p:nvPr/>
        </p:nvSpPr>
        <p:spPr>
          <a:xfrm>
            <a:off x="4572000" y="1203075"/>
            <a:ext cx="4069080" cy="347472"/>
          </a:xfrm>
          <a:prstGeom prst="rect">
            <a:avLst/>
          </a:prstGeom>
          <a:solidFill>
            <a:srgbClr val="1A5276"/>
          </a:solidFill>
          <a:ln w="12700">
            <a:solidFill>
              <a:srgbClr val="1A5276"/>
            </a:solidFill>
            <a:prstDash val="solid"/>
          </a:ln>
        </p:spPr>
        <p:txBody>
          <a:bodyPr/>
          <a:lstStyle/>
          <a:p>
            <a:pPr algn="ctr"/>
            <a:r>
              <a:rPr lang="en-US" sz="1600" b="1" dirty="0">
                <a:solidFill>
                  <a:schemeClr val="bg1"/>
                </a:solidFill>
                <a:latin typeface="Times New Roman" panose="02020603050405020304" pitchFamily="18" charset="0"/>
                <a:cs typeface="Times New Roman" panose="02020603050405020304" pitchFamily="18" charset="0"/>
              </a:rPr>
              <a:t>Future Scope</a:t>
            </a:r>
            <a:endParaRPr lang="en-IN" sz="1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14248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B9BE5-2C34-80E5-61BB-DC32FC6C2F1E}"/>
              </a:ext>
            </a:extLst>
          </p:cNvPr>
          <p:cNvSpPr>
            <a:spLocks noGrp="1"/>
          </p:cNvSpPr>
          <p:nvPr>
            <p:ph type="title"/>
          </p:nvPr>
        </p:nvSpPr>
        <p:spPr>
          <a:xfrm>
            <a:off x="617220" y="0"/>
            <a:ext cx="5486040" cy="914040"/>
          </a:xfrm>
        </p:spPr>
        <p:txBody>
          <a:bodyPr/>
          <a:lstStyle/>
          <a:p>
            <a:pPr algn="ctr"/>
            <a:r>
              <a:rPr lang="en-US" sz="3200" b="1" dirty="0">
                <a:latin typeface="Times New Roman" panose="02020603050405020304" pitchFamily="18" charset="0"/>
                <a:cs typeface="Times New Roman" panose="02020603050405020304" pitchFamily="18" charset="0"/>
              </a:rPr>
              <a:t>Conclusion</a:t>
            </a:r>
            <a:endParaRPr lang="en-IN" sz="32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D4E50F8A-EADC-DB98-14DC-A55EC6551B27}"/>
              </a:ext>
            </a:extLst>
          </p:cNvPr>
          <p:cNvSpPr>
            <a:spLocks noGrp="1"/>
          </p:cNvSpPr>
          <p:nvPr>
            <p:ph type="subTitle"/>
          </p:nvPr>
        </p:nvSpPr>
        <p:spPr>
          <a:xfrm>
            <a:off x="459557" y="1140643"/>
            <a:ext cx="8224886" cy="5114041"/>
          </a:xfrm>
        </p:spPr>
        <p:txBody>
          <a:bodyPr/>
          <a:lstStyle/>
          <a:p>
            <a:pPr marL="0" indent="0" algn="just">
              <a:lnSpc>
                <a:spcPct val="150000"/>
              </a:lnSpc>
              <a:buNone/>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This work presents a hybrid deep learning framework combining Convolutional Neural Networks (CNN) and Capsule Networks (</a:t>
            </a:r>
            <a:r>
              <a:rPr lang="en-US" sz="1600" dirty="0" err="1">
                <a:solidFill>
                  <a:srgbClr val="1A1A1A"/>
                </a:solidFill>
                <a:latin typeface="Times New Roman" panose="02020603050405020304" pitchFamily="18" charset="0"/>
                <a:ea typeface="Times New Roman" pitchFamily="34" charset="-122"/>
                <a:cs typeface="Times New Roman" panose="02020603050405020304" pitchFamily="18" charset="0"/>
              </a:rPr>
              <a:t>CapsNets</a:t>
            </a: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 for robust deepfake detection. By leveraging CNN's powerful feature extraction and </a:t>
            </a:r>
            <a:r>
              <a:rPr lang="en-US" sz="1600" dirty="0" err="1">
                <a:solidFill>
                  <a:srgbClr val="1A1A1A"/>
                </a:solidFill>
                <a:latin typeface="Times New Roman" panose="02020603050405020304" pitchFamily="18" charset="0"/>
                <a:ea typeface="Times New Roman" pitchFamily="34" charset="-122"/>
                <a:cs typeface="Times New Roman" panose="02020603050405020304" pitchFamily="18" charset="0"/>
              </a:rPr>
              <a:t>CapsNet's</a:t>
            </a: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 spatial relationship modeling, the proposed model achieves 94.3% accuracy and 0.93 F1-score — outperforming all standalone approaches.</a:t>
            </a:r>
            <a:endParaRPr lang="en-US" sz="1600" dirty="0">
              <a:solidFill>
                <a:srgbClr val="1A1A1A"/>
              </a:solidFill>
              <a:latin typeface="Times New Roman" panose="02020603050405020304" pitchFamily="18" charset="0"/>
              <a:cs typeface="Times New Roman" panose="02020603050405020304" pitchFamily="18" charset="0"/>
            </a:endParaRPr>
          </a:p>
          <a:p>
            <a:pPr marL="0" indent="0" algn="just">
              <a:lnSpc>
                <a:spcPct val="150000"/>
              </a:lnSpc>
              <a:buNone/>
            </a:pPr>
            <a:r>
              <a:rPr lang="en-US" sz="1600" b="1" dirty="0">
                <a:solidFill>
                  <a:srgbClr val="1A1A1A"/>
                </a:solidFill>
                <a:latin typeface="Times New Roman" panose="02020603050405020304" pitchFamily="18" charset="0"/>
                <a:cs typeface="Times New Roman" panose="02020603050405020304" pitchFamily="18" charset="0"/>
              </a:rPr>
              <a:t>Key Takeaways</a:t>
            </a:r>
          </a:p>
          <a:p>
            <a:pPr marL="285750" indent="-285750" algn="just">
              <a:lnSpc>
                <a:spcPct val="150000"/>
              </a:lnSpc>
              <a:buFont typeface="Wingdings" panose="05000000000000000000" pitchFamily="2" charset="2"/>
              <a:buChar char="Ø"/>
            </a:pPr>
            <a:r>
              <a:rPr lang="en-US" sz="1500" dirty="0">
                <a:solidFill>
                  <a:srgbClr val="1A1A1A"/>
                </a:solidFill>
                <a:latin typeface="Times New Roman" panose="02020603050405020304" pitchFamily="18" charset="0"/>
                <a:ea typeface="Times New Roman" pitchFamily="34" charset="-122"/>
                <a:cs typeface="Times New Roman" panose="02020603050405020304" pitchFamily="18" charset="0"/>
              </a:rPr>
              <a:t>Hybrid CNN + </a:t>
            </a:r>
            <a:r>
              <a:rPr lang="en-US" sz="1500" dirty="0" err="1">
                <a:solidFill>
                  <a:srgbClr val="1A1A1A"/>
                </a:solidFill>
                <a:latin typeface="Times New Roman" panose="02020603050405020304" pitchFamily="18" charset="0"/>
                <a:ea typeface="Times New Roman" pitchFamily="34" charset="-122"/>
                <a:cs typeface="Times New Roman" panose="02020603050405020304" pitchFamily="18" charset="0"/>
              </a:rPr>
              <a:t>CapsNet</a:t>
            </a:r>
            <a:r>
              <a:rPr lang="en-US" sz="1500" dirty="0">
                <a:solidFill>
                  <a:srgbClr val="1A1A1A"/>
                </a:solidFill>
                <a:latin typeface="Times New Roman" panose="02020603050405020304" pitchFamily="18" charset="0"/>
                <a:ea typeface="Times New Roman" pitchFamily="34" charset="-122"/>
                <a:cs typeface="Times New Roman" panose="02020603050405020304" pitchFamily="18" charset="0"/>
              </a:rPr>
              <a:t> outperforms standalone CNN (89.2%) and </a:t>
            </a:r>
            <a:r>
              <a:rPr lang="en-US" sz="1500" dirty="0" err="1">
                <a:solidFill>
                  <a:srgbClr val="1A1A1A"/>
                </a:solidFill>
                <a:latin typeface="Times New Roman" panose="02020603050405020304" pitchFamily="18" charset="0"/>
                <a:ea typeface="Times New Roman" pitchFamily="34" charset="-122"/>
                <a:cs typeface="Times New Roman" panose="02020603050405020304" pitchFamily="18" charset="0"/>
              </a:rPr>
              <a:t>CapsNet</a:t>
            </a:r>
            <a:r>
              <a:rPr lang="en-US" sz="1500" dirty="0">
                <a:solidFill>
                  <a:srgbClr val="1A1A1A"/>
                </a:solidFill>
                <a:latin typeface="Times New Roman" panose="02020603050405020304" pitchFamily="18" charset="0"/>
                <a:ea typeface="Times New Roman" pitchFamily="34" charset="-122"/>
                <a:cs typeface="Times New Roman" panose="02020603050405020304" pitchFamily="18" charset="0"/>
              </a:rPr>
              <a:t> (91.0%) models significantly.</a:t>
            </a:r>
            <a:endParaRPr lang="en-US" sz="1500"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US" sz="1500" dirty="0">
                <a:solidFill>
                  <a:srgbClr val="1A1A1A"/>
                </a:solidFill>
                <a:latin typeface="Times New Roman" panose="02020603050405020304" pitchFamily="18" charset="0"/>
                <a:ea typeface="Times New Roman" pitchFamily="34" charset="-122"/>
                <a:cs typeface="Times New Roman" panose="02020603050405020304" pitchFamily="18" charset="0"/>
              </a:rPr>
              <a:t>Cross-dataset evaluation on unseen data yields 91.5% accuracy — confirming strong generalizability.</a:t>
            </a:r>
            <a:endParaRPr lang="en-US" sz="1500"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US" sz="1500" dirty="0">
                <a:solidFill>
                  <a:srgbClr val="1A1A1A"/>
                </a:solidFill>
                <a:latin typeface="Times New Roman" panose="02020603050405020304" pitchFamily="18" charset="0"/>
                <a:ea typeface="Times New Roman" pitchFamily="34" charset="-122"/>
                <a:cs typeface="Times New Roman" panose="02020603050405020304" pitchFamily="18" charset="0"/>
              </a:rPr>
              <a:t>Dynamic routing in Capsule Networks effectively preserves spatial hierarchies in facial manipulations.</a:t>
            </a:r>
            <a:endParaRPr lang="en-US" sz="1500"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US" sz="1500" dirty="0">
                <a:solidFill>
                  <a:srgbClr val="1A1A1A"/>
                </a:solidFill>
                <a:latin typeface="Times New Roman" panose="02020603050405020304" pitchFamily="18" charset="0"/>
                <a:ea typeface="Times New Roman" pitchFamily="34" charset="-122"/>
                <a:cs typeface="Times New Roman" panose="02020603050405020304" pitchFamily="18" charset="0"/>
              </a:rPr>
              <a:t>Texture and Facial Geometry are identified as the most important discriminative features.</a:t>
            </a:r>
            <a:endParaRPr lang="en-US" sz="1500"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US" sz="1500" dirty="0">
                <a:solidFill>
                  <a:srgbClr val="1A1A1A"/>
                </a:solidFill>
                <a:latin typeface="Times New Roman" panose="02020603050405020304" pitchFamily="18" charset="0"/>
                <a:ea typeface="Times New Roman" pitchFamily="34" charset="-122"/>
                <a:cs typeface="Times New Roman" panose="02020603050405020304" pitchFamily="18" charset="0"/>
              </a:rPr>
              <a:t>The framework establishes a reliable foundation for next-generation deepfake detection systems.</a:t>
            </a:r>
            <a:endParaRPr lang="en-US"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25023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29E34-FCB8-4060-11C2-85065892351C}"/>
              </a:ext>
            </a:extLst>
          </p:cNvPr>
          <p:cNvSpPr>
            <a:spLocks noGrp="1"/>
          </p:cNvSpPr>
          <p:nvPr>
            <p:ph type="title"/>
          </p:nvPr>
        </p:nvSpPr>
        <p:spPr>
          <a:xfrm>
            <a:off x="400050" y="0"/>
            <a:ext cx="5486040" cy="914040"/>
          </a:xfrm>
        </p:spPr>
        <p:txBody>
          <a:bodyPr/>
          <a:lstStyle/>
          <a:p>
            <a:pPr algn="ctr"/>
            <a:r>
              <a:rPr lang="en-US" sz="3200" b="1" dirty="0">
                <a:latin typeface="Times New Roman" panose="02020603050405020304" pitchFamily="18" charset="0"/>
                <a:cs typeface="Times New Roman" panose="02020603050405020304" pitchFamily="18" charset="0"/>
              </a:rPr>
              <a:t>References</a:t>
            </a:r>
            <a:endParaRPr lang="en-IN" sz="32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4F2144F0-98D2-EBCE-7C51-2B6E10C7B983}"/>
              </a:ext>
            </a:extLst>
          </p:cNvPr>
          <p:cNvSpPr>
            <a:spLocks noGrp="1"/>
          </p:cNvSpPr>
          <p:nvPr>
            <p:ph type="subTitle"/>
          </p:nvPr>
        </p:nvSpPr>
        <p:spPr>
          <a:xfrm>
            <a:off x="504334" y="1032358"/>
            <a:ext cx="8135332" cy="5047929"/>
          </a:xfrm>
        </p:spPr>
        <p:txBody>
          <a:bodyPr/>
          <a:lstStyle/>
          <a:p>
            <a:pPr marL="514350" indent="-514350" algn="just">
              <a:lnSpc>
                <a:spcPct val="150000"/>
              </a:lnSpc>
              <a:buFont typeface="+mj-lt"/>
              <a:buAutoNum type="arabicPeriod"/>
            </a:pPr>
            <a:r>
              <a:rPr lang="en-US" sz="1600" dirty="0" err="1">
                <a:solidFill>
                  <a:srgbClr val="1A1A1A"/>
                </a:solidFill>
                <a:latin typeface="Times New Roman" panose="02020603050405020304" pitchFamily="18" charset="0"/>
                <a:ea typeface="Times New Roman" pitchFamily="34" charset="-122"/>
                <a:cs typeface="Times New Roman" panose="02020603050405020304" pitchFamily="18" charset="0"/>
              </a:rPr>
              <a:t>Alrashoud</a:t>
            </a: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 M. (2025). Deepfake video detection methods, approaches, and challenges. Alexandria Engineering Journal, 125, 265–277.</a:t>
            </a:r>
          </a:p>
          <a:p>
            <a:pPr marL="514350" indent="-514350" algn="just">
              <a:lnSpc>
                <a:spcPct val="150000"/>
              </a:lnSpc>
              <a:buFont typeface="+mj-lt"/>
              <a:buAutoNum type="arabicPeriod"/>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Patel &amp; </a:t>
            </a:r>
            <a:r>
              <a:rPr lang="en-US" sz="1600" dirty="0" err="1">
                <a:solidFill>
                  <a:srgbClr val="1A1A1A"/>
                </a:solidFill>
                <a:latin typeface="Times New Roman" panose="02020603050405020304" pitchFamily="18" charset="0"/>
                <a:ea typeface="Times New Roman" pitchFamily="34" charset="-122"/>
                <a:cs typeface="Times New Roman" panose="02020603050405020304" pitchFamily="18" charset="0"/>
              </a:rPr>
              <a:t>Degadwala</a:t>
            </a: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 (2025). Deepfake Detection Using CNNs and LSTM Modelling. IJSRST, 12(3), 448–456.</a:t>
            </a:r>
          </a:p>
          <a:p>
            <a:pPr marL="514350" indent="-514350" algn="just">
              <a:lnSpc>
                <a:spcPct val="150000"/>
              </a:lnSpc>
              <a:buFont typeface="+mj-lt"/>
              <a:buAutoNum type="arabicPeriod"/>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Heidari et al. (2024). Deepfake detection using deep learning methods: A systematic review. WIREs DMKD, 14(2), e1520.</a:t>
            </a:r>
            <a:endParaRPr lang="en-US" sz="1600" dirty="0">
              <a:latin typeface="Times New Roman" panose="02020603050405020304" pitchFamily="18" charset="0"/>
              <a:cs typeface="Times New Roman" panose="02020603050405020304" pitchFamily="18" charset="0"/>
            </a:endParaRPr>
          </a:p>
          <a:p>
            <a:pPr marL="514350" indent="-514350" algn="just">
              <a:lnSpc>
                <a:spcPct val="150000"/>
              </a:lnSpc>
              <a:buFont typeface="+mj-lt"/>
              <a:buAutoNum type="arabicPeriod"/>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Mehra, </a:t>
            </a:r>
            <a:r>
              <a:rPr lang="en-US" sz="1600" dirty="0" err="1">
                <a:solidFill>
                  <a:srgbClr val="1A1A1A"/>
                </a:solidFill>
                <a:latin typeface="Times New Roman" panose="02020603050405020304" pitchFamily="18" charset="0"/>
                <a:ea typeface="Times New Roman" pitchFamily="34" charset="-122"/>
                <a:cs typeface="Times New Roman" panose="02020603050405020304" pitchFamily="18" charset="0"/>
              </a:rPr>
              <a:t>Spreeuwers</a:t>
            </a: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 &amp; </a:t>
            </a:r>
            <a:r>
              <a:rPr lang="en-US" sz="1600" dirty="0" err="1">
                <a:solidFill>
                  <a:srgbClr val="1A1A1A"/>
                </a:solidFill>
                <a:latin typeface="Times New Roman" panose="02020603050405020304" pitchFamily="18" charset="0"/>
                <a:ea typeface="Times New Roman" pitchFamily="34" charset="-122"/>
                <a:cs typeface="Times New Roman" panose="02020603050405020304" pitchFamily="18" charset="0"/>
              </a:rPr>
              <a:t>Strisciuglio</a:t>
            </a: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 (2021). Deepfake detection using capsule networks and LSTM. VISIGRAPP 2021, 407–414.</a:t>
            </a:r>
          </a:p>
          <a:p>
            <a:pPr marL="514350" indent="-514350" algn="just">
              <a:lnSpc>
                <a:spcPct val="150000"/>
              </a:lnSpc>
              <a:buFont typeface="+mj-lt"/>
              <a:buAutoNum type="arabicPeriod"/>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Saikia et al. (2022). A hybrid CNN-LSTM model for video deepfake detection using optical flow. IJCNN 2022, IEEE.</a:t>
            </a:r>
            <a:endParaRPr lang="en-US" sz="1600" dirty="0">
              <a:latin typeface="Times New Roman" panose="02020603050405020304" pitchFamily="18" charset="0"/>
              <a:cs typeface="Times New Roman" panose="02020603050405020304" pitchFamily="18" charset="0"/>
            </a:endParaRPr>
          </a:p>
          <a:p>
            <a:pPr marL="514350" indent="-514350" algn="just">
              <a:lnSpc>
                <a:spcPct val="150000"/>
              </a:lnSpc>
              <a:buFont typeface="+mj-lt"/>
              <a:buAutoNum type="arabicPeriod"/>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Ishrak et al. (2024). Explainable deepfake detection using CNN and </a:t>
            </a:r>
            <a:r>
              <a:rPr lang="en-US" sz="1600" dirty="0" err="1">
                <a:solidFill>
                  <a:srgbClr val="1A1A1A"/>
                </a:solidFill>
                <a:latin typeface="Times New Roman" panose="02020603050405020304" pitchFamily="18" charset="0"/>
                <a:ea typeface="Times New Roman" pitchFamily="34" charset="-122"/>
                <a:cs typeface="Times New Roman" panose="02020603050405020304" pitchFamily="18" charset="0"/>
              </a:rPr>
              <a:t>CapsuleNet</a:t>
            </a: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 arXiv:2404.12841.</a:t>
            </a:r>
            <a:endParaRPr lang="en-US" sz="1600" dirty="0">
              <a:latin typeface="Times New Roman" panose="02020603050405020304" pitchFamily="18" charset="0"/>
              <a:cs typeface="Times New Roman" panose="02020603050405020304" pitchFamily="18" charset="0"/>
            </a:endParaRPr>
          </a:p>
          <a:p>
            <a:pPr marL="514350" indent="-514350" algn="just">
              <a:lnSpc>
                <a:spcPct val="150000"/>
              </a:lnSpc>
              <a:buFont typeface="+mj-lt"/>
              <a:buAutoNum type="arabicPeriod"/>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Rossler et al. (2019). </a:t>
            </a:r>
            <a:r>
              <a:rPr lang="en-US" sz="1600" dirty="0" err="1">
                <a:solidFill>
                  <a:srgbClr val="1A1A1A"/>
                </a:solidFill>
                <a:latin typeface="Times New Roman" panose="02020603050405020304" pitchFamily="18" charset="0"/>
                <a:ea typeface="Times New Roman" pitchFamily="34" charset="-122"/>
                <a:cs typeface="Times New Roman" panose="02020603050405020304" pitchFamily="18" charset="0"/>
              </a:rPr>
              <a:t>FaceForensics</a:t>
            </a: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 Learning to detect manipulated facial images. ICCV 2019, 1–11.</a:t>
            </a:r>
          </a:p>
        </p:txBody>
      </p:sp>
    </p:spTree>
    <p:extLst>
      <p:ext uri="{BB962C8B-B14F-4D97-AF65-F5344CB8AC3E}">
        <p14:creationId xmlns:p14="http://schemas.microsoft.com/office/powerpoint/2010/main" val="14302157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16</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737ED6F0-5E4C-4CD0-9B68-9C53F925A6F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34928</TotalTime>
  <Words>1311</Words>
  <Application>Microsoft Office PowerPoint</Application>
  <PresentationFormat>On-screen Show (4:3)</PresentationFormat>
  <Paragraphs>195</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Arial Black</vt:lpstr>
      <vt:lpstr>Calibri</vt:lpstr>
      <vt:lpstr>Times New Roman</vt:lpstr>
      <vt:lpstr>Wingdings</vt:lpstr>
      <vt:lpstr>Office Theme</vt:lpstr>
      <vt:lpstr>PowerPoint Presentation</vt:lpstr>
      <vt:lpstr>PowerPoint Presentation</vt:lpstr>
      <vt:lpstr>Introduction</vt:lpstr>
      <vt:lpstr>Problem Statement</vt:lpstr>
      <vt:lpstr>Objectives</vt:lpstr>
      <vt:lpstr>Literature Review</vt:lpstr>
      <vt:lpstr>Proposed Methodology</vt:lpstr>
      <vt:lpstr>System Architecture &amp; Workflow</vt:lpstr>
      <vt:lpstr>Tools &amp; Technologies</vt:lpstr>
      <vt:lpstr>Results &amp; Analysis</vt:lpstr>
      <vt:lpstr>Results</vt:lpstr>
      <vt:lpstr>Advantages of the Proposed Model</vt:lpstr>
      <vt:lpstr>Limitations &amp; Future Scope</vt:lpstr>
      <vt:lpstr>Conclusion</vt:lpstr>
      <vt:lpstr>References</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latikabansal08@gmail.com</cp:lastModifiedBy>
  <cp:revision>2304</cp:revision>
  <dcterms:created xsi:type="dcterms:W3CDTF">2010-04-09T07:36:15Z</dcterms:created>
  <dcterms:modified xsi:type="dcterms:W3CDTF">2026-05-09T06:20:48Z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